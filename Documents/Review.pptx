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80" r:id="rId6"/>
    <p:sldId id="275" r:id="rId7"/>
    <p:sldId id="283" r:id="rId8"/>
    <p:sldId id="281" r:id="rId9"/>
    <p:sldId id="282" r:id="rId10"/>
    <p:sldId id="284" r:id="rId11"/>
    <p:sldId id="279" r:id="rId12"/>
    <p:sldId id="291" r:id="rId13"/>
    <p:sldId id="296" r:id="rId14"/>
    <p:sldId id="302" r:id="rId15"/>
    <p:sldId id="294" r:id="rId16"/>
    <p:sldId id="303" r:id="rId17"/>
    <p:sldId id="297" r:id="rId18"/>
    <p:sldId id="304" r:id="rId19"/>
    <p:sldId id="298" r:id="rId20"/>
    <p:sldId id="305" r:id="rId21"/>
    <p:sldId id="299" r:id="rId22"/>
    <p:sldId id="306" r:id="rId23"/>
    <p:sldId id="300" r:id="rId24"/>
    <p:sldId id="307" r:id="rId25"/>
    <p:sldId id="288" r:id="rId26"/>
    <p:sldId id="287" r:id="rId27"/>
    <p:sldId id="289" r:id="rId28"/>
    <p:sldId id="292" r:id="rId29"/>
    <p:sldId id="293"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1" r:id="rId44"/>
    <p:sldId id="322" r:id="rId45"/>
    <p:sldId id="323" r:id="rId46"/>
    <p:sldId id="324" r:id="rId47"/>
    <p:sldId id="325" r:id="rId48"/>
    <p:sldId id="330" r:id="rId49"/>
    <p:sldId id="331" r:id="rId50"/>
    <p:sldId id="332" r:id="rId51"/>
    <p:sldId id="333" r:id="rId52"/>
    <p:sldId id="334" r:id="rId53"/>
    <p:sldId id="335" r:id="rId54"/>
    <p:sldId id="336" r:id="rId55"/>
    <p:sldId id="266" r:id="rId56"/>
    <p:sldId id="286" r:id="rId57"/>
    <p:sldId id="326" r:id="rId58"/>
    <p:sldId id="290" r:id="rId59"/>
    <p:sldId id="272" r:id="rId60"/>
    <p:sldId id="328" r:id="rId61"/>
    <p:sldId id="273" r:id="rId62"/>
    <p:sldId id="329" r:id="rId63"/>
    <p:sldId id="274"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79" autoAdjust="0"/>
    <p:restoredTop sz="94660"/>
  </p:normalViewPr>
  <p:slideViewPr>
    <p:cSldViewPr snapToGrid="0">
      <p:cViewPr varScale="1">
        <p:scale>
          <a:sx n="82" d="100"/>
          <a:sy n="82" d="100"/>
        </p:scale>
        <p:origin x="95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4A717E1-CB94-4F0C-A7BD-C64D0BE26348}" type="datetimeFigureOut">
              <a:rPr lang="en-IN" smtClean="0"/>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5B1D64-86DD-485A-B182-DF4667E638D1}" type="slidenum">
              <a:rPr lang="en-IN" smtClean="0"/>
              <a:t>‹#›</a:t>
            </a:fld>
            <a:endParaRPr lang="en-IN"/>
          </a:p>
        </p:txBody>
      </p:sp>
    </p:spTree>
    <p:extLst>
      <p:ext uri="{BB962C8B-B14F-4D97-AF65-F5344CB8AC3E}">
        <p14:creationId xmlns:p14="http://schemas.microsoft.com/office/powerpoint/2010/main" val="3016129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4A717E1-CB94-4F0C-A7BD-C64D0BE26348}" type="datetimeFigureOut">
              <a:rPr lang="en-IN" smtClean="0"/>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5B1D64-86DD-485A-B182-DF4667E638D1}" type="slidenum">
              <a:rPr lang="en-IN" smtClean="0"/>
              <a:t>‹#›</a:t>
            </a:fld>
            <a:endParaRPr lang="en-IN"/>
          </a:p>
        </p:txBody>
      </p:sp>
    </p:spTree>
    <p:extLst>
      <p:ext uri="{BB962C8B-B14F-4D97-AF65-F5344CB8AC3E}">
        <p14:creationId xmlns:p14="http://schemas.microsoft.com/office/powerpoint/2010/main" val="2727235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4A717E1-CB94-4F0C-A7BD-C64D0BE26348}" type="datetimeFigureOut">
              <a:rPr lang="en-IN" smtClean="0"/>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5B1D64-86DD-485A-B182-DF4667E638D1}" type="slidenum">
              <a:rPr lang="en-IN" smtClean="0"/>
              <a:t>‹#›</a:t>
            </a:fld>
            <a:endParaRPr lang="en-IN"/>
          </a:p>
        </p:txBody>
      </p:sp>
    </p:spTree>
    <p:extLst>
      <p:ext uri="{BB962C8B-B14F-4D97-AF65-F5344CB8AC3E}">
        <p14:creationId xmlns:p14="http://schemas.microsoft.com/office/powerpoint/2010/main" val="3345117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4A717E1-CB94-4F0C-A7BD-C64D0BE26348}" type="datetimeFigureOut">
              <a:rPr lang="en-IN" smtClean="0"/>
              <a:t>12-04-2026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5B1D64-86DD-485A-B182-DF4667E638D1}" type="slidenum">
              <a:rPr lang="en-IN" smtClean="0"/>
              <a:t>‹#›</a:t>
            </a:fld>
            <a:endParaRPr lang="en-IN"/>
          </a:p>
        </p:txBody>
      </p:sp>
    </p:spTree>
    <p:extLst>
      <p:ext uri="{BB962C8B-B14F-4D97-AF65-F5344CB8AC3E}">
        <p14:creationId xmlns:p14="http://schemas.microsoft.com/office/powerpoint/2010/main" val="183304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4A717E1-CB94-4F0C-A7BD-C64D0BE26348}" type="datetimeFigureOut">
              <a:rPr lang="en-IN" smtClean="0"/>
              <a:t>12-04-2026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25B1D64-86DD-485A-B182-DF4667E638D1}" type="slidenum">
              <a:rPr lang="en-IN" smtClean="0"/>
              <a:t>‹#›</a:t>
            </a:fld>
            <a:endParaRPr lang="en-IN"/>
          </a:p>
        </p:txBody>
      </p:sp>
    </p:spTree>
    <p:extLst>
      <p:ext uri="{BB962C8B-B14F-4D97-AF65-F5344CB8AC3E}">
        <p14:creationId xmlns:p14="http://schemas.microsoft.com/office/powerpoint/2010/main" val="2083821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4A717E1-CB94-4F0C-A7BD-C64D0BE26348}" type="datetimeFigureOut">
              <a:rPr lang="en-IN" smtClean="0"/>
              <a:t>12-04-2026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25B1D64-86DD-485A-B182-DF4667E638D1}" type="slidenum">
              <a:rPr lang="en-IN" smtClean="0"/>
              <a:t>‹#›</a:t>
            </a:fld>
            <a:endParaRPr lang="en-IN"/>
          </a:p>
        </p:txBody>
      </p:sp>
    </p:spTree>
    <p:extLst>
      <p:ext uri="{BB962C8B-B14F-4D97-AF65-F5344CB8AC3E}">
        <p14:creationId xmlns:p14="http://schemas.microsoft.com/office/powerpoint/2010/main" val="288134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A717E1-CB94-4F0C-A7BD-C64D0BE26348}" type="datetimeFigureOut">
              <a:rPr lang="en-IN" smtClean="0"/>
              <a:t>12-04-2026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25B1D64-86DD-485A-B182-DF4667E638D1}" type="slidenum">
              <a:rPr lang="en-IN" smtClean="0"/>
              <a:t>‹#›</a:t>
            </a:fld>
            <a:endParaRPr lang="en-IN"/>
          </a:p>
        </p:txBody>
      </p:sp>
    </p:spTree>
    <p:extLst>
      <p:ext uri="{BB962C8B-B14F-4D97-AF65-F5344CB8AC3E}">
        <p14:creationId xmlns:p14="http://schemas.microsoft.com/office/powerpoint/2010/main" val="1753498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A717E1-CB94-4F0C-A7BD-C64D0BE26348}" type="datetimeFigureOut">
              <a:rPr lang="en-IN" smtClean="0"/>
              <a:t>12-04-2026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5B1D64-86DD-485A-B182-DF4667E638D1}" type="slidenum">
              <a:rPr lang="en-IN" smtClean="0"/>
              <a:t>‹#›</a:t>
            </a:fld>
            <a:endParaRPr lang="en-IN"/>
          </a:p>
        </p:txBody>
      </p:sp>
    </p:spTree>
    <p:extLst>
      <p:ext uri="{BB962C8B-B14F-4D97-AF65-F5344CB8AC3E}">
        <p14:creationId xmlns:p14="http://schemas.microsoft.com/office/powerpoint/2010/main" val="2767017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A717E1-CB94-4F0C-A7BD-C64D0BE26348}" type="datetimeFigureOut">
              <a:rPr lang="en-IN" smtClean="0"/>
              <a:t>12-04-2026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5B1D64-86DD-485A-B182-DF4667E638D1}" type="slidenum">
              <a:rPr lang="en-IN" smtClean="0"/>
              <a:t>‹#›</a:t>
            </a:fld>
            <a:endParaRPr lang="en-IN"/>
          </a:p>
        </p:txBody>
      </p:sp>
    </p:spTree>
    <p:extLst>
      <p:ext uri="{BB962C8B-B14F-4D97-AF65-F5344CB8AC3E}">
        <p14:creationId xmlns:p14="http://schemas.microsoft.com/office/powerpoint/2010/main" val="110358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4A717E1-CB94-4F0C-A7BD-C64D0BE26348}" type="datetimeFigureOut">
              <a:rPr lang="en-IN" smtClean="0"/>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5B1D64-86DD-485A-B182-DF4667E638D1}" type="slidenum">
              <a:rPr lang="en-IN" smtClean="0"/>
              <a:t>‹#›</a:t>
            </a:fld>
            <a:endParaRPr lang="en-IN"/>
          </a:p>
        </p:txBody>
      </p:sp>
    </p:spTree>
    <p:extLst>
      <p:ext uri="{BB962C8B-B14F-4D97-AF65-F5344CB8AC3E}">
        <p14:creationId xmlns:p14="http://schemas.microsoft.com/office/powerpoint/2010/main" val="3910815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4A717E1-CB94-4F0C-A7BD-C64D0BE26348}" type="datetimeFigureOut">
              <a:rPr lang="en-IN" smtClean="0"/>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5B1D64-86DD-485A-B182-DF4667E638D1}" type="slidenum">
              <a:rPr lang="en-IN" smtClean="0"/>
              <a:t>‹#›</a:t>
            </a:fld>
            <a:endParaRPr lang="en-IN"/>
          </a:p>
        </p:txBody>
      </p:sp>
    </p:spTree>
    <p:extLst>
      <p:ext uri="{BB962C8B-B14F-4D97-AF65-F5344CB8AC3E}">
        <p14:creationId xmlns:p14="http://schemas.microsoft.com/office/powerpoint/2010/main" val="3132844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A717E1-CB94-4F0C-A7BD-C64D0BE26348}" type="datetimeFigureOut">
              <a:rPr lang="en-IN" smtClean="0"/>
              <a:t>12-04-2026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5B1D64-86DD-485A-B182-DF4667E638D1}" type="slidenum">
              <a:rPr lang="en-IN" smtClean="0"/>
              <a:t>‹#›</a:t>
            </a:fld>
            <a:endParaRPr lang="en-IN"/>
          </a:p>
        </p:txBody>
      </p:sp>
    </p:spTree>
    <p:extLst>
      <p:ext uri="{BB962C8B-B14F-4D97-AF65-F5344CB8AC3E}">
        <p14:creationId xmlns:p14="http://schemas.microsoft.com/office/powerpoint/2010/main" val="4012822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28700" y="641274"/>
            <a:ext cx="10015672" cy="753978"/>
          </a:xfrm>
        </p:spPr>
        <p:txBody>
          <a:bodyPr>
            <a:noAutofit/>
          </a:bodyPr>
          <a:lstStyle/>
          <a:p>
            <a:br>
              <a:rPr lang="en-GB" altLang="en-US" sz="3400" b="1" dirty="0">
                <a:latin typeface="Times New Roman" panose="02020603050405020304" pitchFamily="18" charset="0"/>
                <a:cs typeface="Times New Roman" panose="02020603050405020304" pitchFamily="18" charset="0"/>
                <a:sym typeface="Arial" panose="020B0604020202020204" pitchFamily="34" charset="0"/>
              </a:rPr>
            </a:br>
            <a:br>
              <a:rPr lang="en-GB" altLang="en-US" sz="3400" b="1" dirty="0">
                <a:latin typeface="Times New Roman" panose="02020603050405020304" pitchFamily="18" charset="0"/>
                <a:cs typeface="Times New Roman" panose="02020603050405020304" pitchFamily="18" charset="0"/>
                <a:sym typeface="Arial" panose="020B0604020202020204" pitchFamily="34" charset="0"/>
              </a:rPr>
            </a:br>
            <a:br>
              <a:rPr lang="en-GB" altLang="en-US" sz="3400" b="1" dirty="0">
                <a:latin typeface="Times New Roman" panose="02020603050405020304" pitchFamily="18" charset="0"/>
                <a:cs typeface="Times New Roman" panose="02020603050405020304" pitchFamily="18" charset="0"/>
                <a:sym typeface="Arial" panose="020B0604020202020204" pitchFamily="34" charset="0"/>
              </a:rPr>
            </a:br>
            <a:r>
              <a:rPr lang="en-GB" altLang="en-US" sz="3400" b="1" dirty="0">
                <a:latin typeface="Times New Roman" panose="02020603050405020304" pitchFamily="18" charset="0"/>
                <a:cs typeface="Times New Roman" panose="02020603050405020304" pitchFamily="18" charset="0"/>
                <a:sym typeface="Arial" panose="020B0604020202020204" pitchFamily="34" charset="0"/>
              </a:rPr>
              <a:t>GANADIPATHY TULSIS JAIN ENGINEERING COLLEGE</a:t>
            </a:r>
            <a:endParaRPr lang="en-IN" sz="34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439615" y="3260495"/>
            <a:ext cx="11306908"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 PREDICTIVE SYSTEM FOR IDENTIFYING BOT-GENERATED AD CLICKS</a:t>
            </a:r>
            <a:endParaRPr lang="en-IN" sz="2400" dirty="0">
              <a:latin typeface="Times New Roman" panose="02020603050405020304" pitchFamily="18" charset="0"/>
              <a:cs typeface="Times New Roman" panose="02020603050405020304" pitchFamily="18" charset="0"/>
            </a:endParaRPr>
          </a:p>
        </p:txBody>
      </p:sp>
      <p:pic>
        <p:nvPicPr>
          <p:cNvPr id="6"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8336" y="1688617"/>
            <a:ext cx="17272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1028700" y="4239851"/>
            <a:ext cx="4299284" cy="2308324"/>
          </a:xfrm>
          <a:prstGeom prst="rect">
            <a:avLst/>
          </a:prstGeom>
          <a:noFill/>
        </p:spPr>
        <p:txBody>
          <a:bodyPr wrap="square" rtlCol="0">
            <a:spAutoFit/>
          </a:bodyPr>
          <a:lstStyle/>
          <a:p>
            <a:r>
              <a:rPr lang="en-GB" altLang="en-US" sz="2400" dirty="0">
                <a:solidFill>
                  <a:srgbClr val="0070C0"/>
                </a:solidFill>
                <a:latin typeface="Times New Roman" panose="02020603050405020304" pitchFamily="18" charset="0"/>
                <a:cs typeface="Times New Roman" panose="02020603050405020304" pitchFamily="18" charset="0"/>
              </a:rPr>
              <a:t>Project Coordinator :</a:t>
            </a:r>
          </a:p>
          <a:p>
            <a:endParaRPr lang="en-US" altLang="en-US" sz="2400" dirty="0">
              <a:latin typeface="Times New Roman" panose="02020603050405020304" pitchFamily="18" charset="0"/>
              <a:cs typeface="Times New Roman" panose="02020603050405020304" pitchFamily="18" charset="0"/>
            </a:endParaRPr>
          </a:p>
          <a:p>
            <a:r>
              <a:rPr lang="en-GB" altLang="en-US" sz="2400" dirty="0" err="1">
                <a:latin typeface="Times New Roman" panose="02020603050405020304" pitchFamily="18" charset="0"/>
                <a:cs typeface="Times New Roman" panose="02020603050405020304" pitchFamily="18" charset="0"/>
              </a:rPr>
              <a:t>Mrs.Santhanalakshmi</a:t>
            </a:r>
            <a:r>
              <a:rPr lang="en-GB" altLang="en-US" sz="2400" dirty="0">
                <a:latin typeface="Times New Roman" panose="02020603050405020304" pitchFamily="18" charset="0"/>
                <a:cs typeface="Times New Roman" panose="02020603050405020304" pitchFamily="18" charset="0"/>
              </a:rPr>
              <a:t>,</a:t>
            </a:r>
            <a:endParaRPr lang="en-US" altLang="en-US"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H.O.D.</a:t>
            </a:r>
            <a:endParaRPr lang="en-US" altLang="en-US"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Computer Science Department,</a:t>
            </a:r>
            <a:endParaRPr lang="en-US" altLang="en-US"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GTEC</a:t>
            </a:r>
            <a:endParaRPr lang="en-US" altLang="en-US" sz="2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484776" y="4071894"/>
            <a:ext cx="5038530" cy="2677656"/>
          </a:xfrm>
          <a:prstGeom prst="rect">
            <a:avLst/>
          </a:prstGeom>
          <a:noFill/>
        </p:spPr>
        <p:txBody>
          <a:bodyPr wrap="square" rtlCol="0">
            <a:spAutoFit/>
          </a:bodyPr>
          <a:lstStyle/>
          <a:p>
            <a:r>
              <a:rPr lang="en-GB" altLang="en-US" sz="2400" dirty="0">
                <a:solidFill>
                  <a:srgbClr val="0070C0"/>
                </a:solidFill>
                <a:latin typeface="Times New Roman" panose="02020603050405020304" pitchFamily="18" charset="0"/>
                <a:cs typeface="Times New Roman" panose="02020603050405020304" pitchFamily="18" charset="0"/>
              </a:rPr>
              <a:t>Batch No:  09           </a:t>
            </a:r>
            <a:endParaRPr lang="en-US" altLang="en-US" sz="2400" dirty="0">
              <a:latin typeface="Times New Roman" panose="02020603050405020304" pitchFamily="18" charset="0"/>
              <a:cs typeface="Times New Roman" panose="02020603050405020304" pitchFamily="18" charset="0"/>
            </a:endParaRPr>
          </a:p>
          <a:p>
            <a:endParaRPr lang="en-GB" altLang="en-US" sz="2400" dirty="0">
              <a:solidFill>
                <a:srgbClr val="0070C0"/>
              </a:solidFill>
              <a:latin typeface="Times New Roman" panose="02020603050405020304" pitchFamily="18" charset="0"/>
              <a:cs typeface="Times New Roman" panose="02020603050405020304" pitchFamily="18" charset="0"/>
            </a:endParaRPr>
          </a:p>
          <a:p>
            <a:r>
              <a:rPr lang="en-GB" altLang="en-US" sz="2400" dirty="0">
                <a:solidFill>
                  <a:srgbClr val="0070C0"/>
                </a:solidFill>
                <a:latin typeface="Times New Roman" panose="02020603050405020304" pitchFamily="18" charset="0"/>
                <a:cs typeface="Times New Roman" panose="02020603050405020304" pitchFamily="18" charset="0"/>
              </a:rPr>
              <a:t>Team Members:</a:t>
            </a:r>
            <a:endParaRPr lang="en-US" altLang="en-US"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Hari Krishnan S	- 510822104012</a:t>
            </a:r>
            <a:r>
              <a:rPr lang="en-US" altLang="en-US" sz="2400" dirty="0">
                <a:latin typeface="Times New Roman" panose="02020603050405020304" pitchFamily="18" charset="0"/>
                <a:cs typeface="Times New Roman" panose="02020603050405020304" pitchFamily="18" charset="0"/>
              </a:rPr>
              <a:t> </a:t>
            </a:r>
          </a:p>
          <a:p>
            <a:r>
              <a:rPr lang="en-GB" altLang="en-US" sz="2400" dirty="0">
                <a:latin typeface="Times New Roman" panose="02020603050405020304" pitchFamily="18" charset="0"/>
                <a:cs typeface="Times New Roman" panose="02020603050405020304" pitchFamily="18" charset="0"/>
              </a:rPr>
              <a:t>Sufiyan S		- 510822104047</a:t>
            </a:r>
          </a:p>
          <a:p>
            <a:r>
              <a:rPr lang="en-US" altLang="en-US" sz="2400">
                <a:latin typeface="Times New Roman" panose="02020603050405020304" pitchFamily="18" charset="0"/>
                <a:cs typeface="Times New Roman" panose="02020603050405020304" pitchFamily="18" charset="0"/>
              </a:rPr>
              <a:t>Theerthagiri</a:t>
            </a:r>
            <a:r>
              <a:rPr lang="en-US" altLang="en-US" sz="2400" dirty="0">
                <a:latin typeface="Times New Roman" panose="02020603050405020304" pitchFamily="18" charset="0"/>
                <a:cs typeface="Times New Roman" panose="02020603050405020304" pitchFamily="18" charset="0"/>
              </a:rPr>
              <a:t> S		- </a:t>
            </a:r>
            <a:r>
              <a:rPr lang="en-GB" altLang="en-US" sz="2400" dirty="0">
                <a:latin typeface="Times New Roman" panose="02020603050405020304" pitchFamily="18" charset="0"/>
                <a:cs typeface="Times New Roman" panose="02020603050405020304" pitchFamily="18" charset="0"/>
              </a:rPr>
              <a:t>510822104050</a:t>
            </a:r>
          </a:p>
          <a:p>
            <a:r>
              <a:rPr lang="en-GB" altLang="en-US" sz="2400" dirty="0" err="1">
                <a:latin typeface="Times New Roman" panose="02020603050405020304" pitchFamily="18" charset="0"/>
                <a:cs typeface="Times New Roman" panose="02020603050405020304" pitchFamily="18" charset="0"/>
              </a:rPr>
              <a:t>Vedeshkumar</a:t>
            </a:r>
            <a:r>
              <a:rPr lang="en-GB" altLang="en-US" sz="2400" dirty="0">
                <a:latin typeface="Times New Roman" panose="02020603050405020304" pitchFamily="18" charset="0"/>
                <a:cs typeface="Times New Roman" panose="02020603050405020304" pitchFamily="18" charset="0"/>
              </a:rPr>
              <a:t> M	- 510822104055</a:t>
            </a:r>
          </a:p>
        </p:txBody>
      </p:sp>
    </p:spTree>
    <p:extLst>
      <p:ext uri="{BB962C8B-B14F-4D97-AF65-F5344CB8AC3E}">
        <p14:creationId xmlns:p14="http://schemas.microsoft.com/office/powerpoint/2010/main" val="3047148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227221" y="473311"/>
            <a:ext cx="8213558" cy="523220"/>
          </a:xfrm>
          <a:prstGeom prst="rect">
            <a:avLst/>
          </a:prstGeom>
          <a:noFill/>
        </p:spPr>
        <p:txBody>
          <a:bodyPr wrap="square" rtlCol="0">
            <a:spAutoFit/>
          </a:bodyPr>
          <a:lstStyle/>
          <a:p>
            <a:pPr algn="ctr"/>
            <a:r>
              <a:rPr lang="en-GB" altLang="en-US" sz="2800" b="1" dirty="0">
                <a:latin typeface="Times New Roman" panose="02020603050405020304" pitchFamily="18" charset="0"/>
                <a:cs typeface="Times New Roman" panose="02020603050405020304" pitchFamily="18" charset="0"/>
                <a:sym typeface="Arial" panose="020B0604020202020204" pitchFamily="34" charset="0"/>
              </a:rPr>
              <a:t>OBJECTIVE</a:t>
            </a:r>
            <a:endParaRPr lang="en-IN" sz="2800" dirty="0"/>
          </a:p>
        </p:txBody>
      </p:sp>
      <p:sp>
        <p:nvSpPr>
          <p:cNvPr id="3" name="TextBox 2"/>
          <p:cNvSpPr txBox="1"/>
          <p:nvPr/>
        </p:nvSpPr>
        <p:spPr>
          <a:xfrm>
            <a:off x="1147011" y="1917032"/>
            <a:ext cx="9793705" cy="2241960"/>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Main objective </a:t>
            </a:r>
            <a:r>
              <a:rPr lang="en-US" sz="2400" dirty="0">
                <a:latin typeface="Times New Roman" panose="02020603050405020304" pitchFamily="18" charset="0"/>
                <a:cs typeface="Times New Roman" panose="02020603050405020304" pitchFamily="18" charset="0"/>
              </a:rPr>
              <a:t>of this project is to design and develop an intelligent Ad Click Fraud Detection. The system aims to analyze large volumes of click data and detect abnormal patterns associated with bot-driven or malicious activities. To detect the abnormal Ad Click activities.</a:t>
            </a:r>
          </a:p>
        </p:txBody>
      </p:sp>
    </p:spTree>
    <p:extLst>
      <p:ext uri="{BB962C8B-B14F-4D97-AF65-F5344CB8AC3E}">
        <p14:creationId xmlns:p14="http://schemas.microsoft.com/office/powerpoint/2010/main" val="2575633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227221" y="473311"/>
            <a:ext cx="8213558" cy="523220"/>
          </a:xfrm>
          <a:prstGeom prst="rect">
            <a:avLst/>
          </a:prstGeom>
          <a:noFill/>
        </p:spPr>
        <p:txBody>
          <a:bodyPr wrap="square" rtlCol="0">
            <a:spAutoFit/>
          </a:bodyPr>
          <a:lstStyle/>
          <a:p>
            <a:pPr algn="ctr"/>
            <a:r>
              <a:rPr lang="en-GB" altLang="en-US" sz="2800" b="1" dirty="0">
                <a:latin typeface="Times New Roman" panose="02020603050405020304" pitchFamily="18" charset="0"/>
                <a:cs typeface="Times New Roman" panose="02020603050405020304" pitchFamily="18" charset="0"/>
                <a:sym typeface="Arial" panose="020B0604020202020204" pitchFamily="34" charset="0"/>
              </a:rPr>
              <a:t>ABSTRACT</a:t>
            </a:r>
            <a:endParaRPr lang="en-IN" sz="2800" dirty="0"/>
          </a:p>
        </p:txBody>
      </p:sp>
      <p:sp>
        <p:nvSpPr>
          <p:cNvPr id="3" name="TextBox 2"/>
          <p:cNvSpPr txBox="1"/>
          <p:nvPr/>
        </p:nvSpPr>
        <p:spPr>
          <a:xfrm>
            <a:off x="1147011" y="1917032"/>
            <a:ext cx="9793705" cy="3903954"/>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 Click fraud detection : It is a general issue in digital marketing, where automated bots or malicious actors generate false clicks on advertisements. This project leverages machine learning models. This models can accurately distinguish between Human clicks or Bot clicks.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models are evaluated using performance metrics such as accuracy, precision, recall, and F1-score to determine how effectively they detect fraudulent clicks.</a:t>
            </a:r>
          </a:p>
        </p:txBody>
      </p:sp>
    </p:spTree>
    <p:extLst>
      <p:ext uri="{BB962C8B-B14F-4D97-AF65-F5344CB8AC3E}">
        <p14:creationId xmlns:p14="http://schemas.microsoft.com/office/powerpoint/2010/main" val="1628325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227221" y="473311"/>
            <a:ext cx="8213558" cy="523220"/>
          </a:xfrm>
          <a:prstGeom prst="rect">
            <a:avLst/>
          </a:prstGeom>
          <a:noFill/>
        </p:spPr>
        <p:txBody>
          <a:bodyPr wrap="square" rtlCol="0">
            <a:spAutoFit/>
          </a:bodyPr>
          <a:lstStyle/>
          <a:p>
            <a:pPr algn="ctr"/>
            <a:r>
              <a:rPr lang="en-GB" altLang="en-US" sz="2800" b="1" dirty="0">
                <a:latin typeface="Times New Roman" panose="02020603050405020304" pitchFamily="18" charset="0"/>
                <a:cs typeface="Times New Roman" panose="02020603050405020304" pitchFamily="18" charset="0"/>
                <a:sym typeface="Arial" panose="020B0604020202020204" pitchFamily="34" charset="0"/>
              </a:rPr>
              <a:t>INTRODUCTION</a:t>
            </a:r>
            <a:endParaRPr lang="en-IN" sz="2800" dirty="0"/>
          </a:p>
        </p:txBody>
      </p:sp>
      <p:sp>
        <p:nvSpPr>
          <p:cNvPr id="3" name="TextBox 2"/>
          <p:cNvSpPr txBox="1"/>
          <p:nvPr/>
        </p:nvSpPr>
        <p:spPr>
          <a:xfrm>
            <a:off x="1114926" y="1909010"/>
            <a:ext cx="9793705" cy="3903954"/>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Online advertising has become a dominant revenue model for digital platforms and businesses worldwide.</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 click fraud typically involves repeated or abnormal clicking behaviour.</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We Introduced the machine learning model for detecting this kind of abnormal clicking behaviour.</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Machine learning techniques provide to learn about hidden patterns from historical click data.</a:t>
            </a:r>
          </a:p>
        </p:txBody>
      </p:sp>
    </p:spTree>
    <p:extLst>
      <p:ext uri="{BB962C8B-B14F-4D97-AF65-F5344CB8AC3E}">
        <p14:creationId xmlns:p14="http://schemas.microsoft.com/office/powerpoint/2010/main" val="1999087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227221" y="473311"/>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sym typeface="Arial" panose="020B0604020202020204" pitchFamily="34" charset="0"/>
              </a:rPr>
              <a:t>EXISTING</a:t>
            </a:r>
            <a:r>
              <a:rPr lang="en-GB" sz="2600" b="1" dirty="0">
                <a:latin typeface="Times New Roman" panose="02020603050405020304" pitchFamily="18" charset="0"/>
                <a:cs typeface="Times New Roman" panose="02020603050405020304" pitchFamily="18" charset="0"/>
                <a:sym typeface="Arial" panose="020B0604020202020204" pitchFamily="34" charset="0"/>
              </a:rPr>
              <a:t> SYSTEM </a:t>
            </a:r>
          </a:p>
        </p:txBody>
      </p:sp>
      <p:sp>
        <p:nvSpPr>
          <p:cNvPr id="3" name="TextBox 2"/>
          <p:cNvSpPr txBox="1"/>
          <p:nvPr/>
        </p:nvSpPr>
        <p:spPr>
          <a:xfrm>
            <a:off x="1114926" y="1132287"/>
            <a:ext cx="9793705" cy="5565947"/>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sz="2400" dirty="0">
                <a:latin typeface="Times New Roman" pitchFamily="18" charset="0"/>
                <a:cs typeface="Times New Roman" pitchFamily="18" charset="0"/>
              </a:rPr>
              <a:t>Uses rule-based and manual filtering techniques</a:t>
            </a:r>
          </a:p>
          <a:p>
            <a:pPr marL="342900" indent="-342900" algn="just">
              <a:lnSpc>
                <a:spcPct val="150000"/>
              </a:lnSpc>
              <a:buFont typeface="Arial" panose="020B0604020202020204" pitchFamily="34" charset="0"/>
              <a:buChar char="•"/>
            </a:pPr>
            <a:r>
              <a:rPr lang="en-IN" sz="2400" dirty="0">
                <a:latin typeface="Times New Roman" pitchFamily="18" charset="0"/>
                <a:cs typeface="Times New Roman" pitchFamily="18" charset="0"/>
              </a:rPr>
              <a:t>Relies on static thresholds (IP block list, click limits)</a:t>
            </a:r>
          </a:p>
          <a:p>
            <a:pPr marL="342900" indent="-342900" algn="just">
              <a:lnSpc>
                <a:spcPct val="150000"/>
              </a:lnSpc>
              <a:buFont typeface="Arial" panose="020B0604020202020204" pitchFamily="34" charset="0"/>
              <a:buChar char="•"/>
            </a:pPr>
            <a:r>
              <a:rPr lang="en-IN" sz="2400" dirty="0">
                <a:latin typeface="Times New Roman" pitchFamily="18" charset="0"/>
                <a:cs typeface="Times New Roman" pitchFamily="18" charset="0"/>
              </a:rPr>
              <a:t>Detects fraud using basic statistical methods</a:t>
            </a:r>
          </a:p>
          <a:p>
            <a:pPr marL="342900" indent="-342900" algn="just">
              <a:lnSpc>
                <a:spcPct val="150000"/>
              </a:lnSpc>
              <a:buFont typeface="Arial" panose="020B0604020202020204" pitchFamily="34" charset="0"/>
              <a:buChar char="•"/>
            </a:pPr>
            <a:endParaRPr lang="en-IN" sz="2400" dirty="0">
              <a:latin typeface="Times New Roman" pitchFamily="18" charset="0"/>
              <a:cs typeface="Times New Roman" pitchFamily="18" charset="0"/>
            </a:endParaRPr>
          </a:p>
          <a:p>
            <a:pPr algn="just">
              <a:lnSpc>
                <a:spcPct val="150000"/>
              </a:lnSpc>
            </a:pPr>
            <a:r>
              <a:rPr lang="en-IN" sz="2400" b="1" dirty="0">
                <a:latin typeface="Times New Roman" pitchFamily="18" charset="0"/>
                <a:cs typeface="Times New Roman" pitchFamily="18" charset="0"/>
              </a:rPr>
              <a:t>Disadvantages :</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No intelligent learning mechanism</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Cannot adapt to new or evolving bot behaviors</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High false positives, misclassifying human clicks</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Poor performance on imbalanced datasets</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Not suitable for real-time fraud detection</a:t>
            </a:r>
          </a:p>
        </p:txBody>
      </p:sp>
    </p:spTree>
    <p:extLst>
      <p:ext uri="{BB962C8B-B14F-4D97-AF65-F5344CB8AC3E}">
        <p14:creationId xmlns:p14="http://schemas.microsoft.com/office/powerpoint/2010/main" val="3824521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84568" y="1"/>
            <a:ext cx="1307432" cy="934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227221" y="309192"/>
            <a:ext cx="8213558"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LITERATURE</a:t>
            </a:r>
            <a:r>
              <a:rPr lang="en-IN" sz="2600" b="1" dirty="0">
                <a:latin typeface="Times New Roman" panose="02020603050405020304" pitchFamily="18" charset="0"/>
                <a:cs typeface="Times New Roman" panose="02020603050405020304" pitchFamily="18" charset="0"/>
              </a:rPr>
              <a:t> SURVEY</a:t>
            </a:r>
            <a:endParaRPr lang="en-IN" sz="2600"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538915637"/>
              </p:ext>
            </p:extLst>
          </p:nvPr>
        </p:nvGraphicFramePr>
        <p:xfrm>
          <a:off x="0" y="939409"/>
          <a:ext cx="12192000" cy="5364480"/>
        </p:xfrm>
        <a:graphic>
          <a:graphicData uri="http://schemas.openxmlformats.org/drawingml/2006/table">
            <a:tbl>
              <a:tblPr firstRow="1" bandRow="1">
                <a:tableStyleId>{5C22544A-7EE6-4342-B048-85BDC9FD1C3A}</a:tableStyleId>
              </a:tblPr>
              <a:tblGrid>
                <a:gridCol w="2150533">
                  <a:extLst>
                    <a:ext uri="{9D8B030D-6E8A-4147-A177-3AD203B41FA5}">
                      <a16:colId xmlns:a16="http://schemas.microsoft.com/office/drawing/2014/main" val="3799680782"/>
                    </a:ext>
                  </a:extLst>
                </a:gridCol>
                <a:gridCol w="2167467">
                  <a:extLst>
                    <a:ext uri="{9D8B030D-6E8A-4147-A177-3AD203B41FA5}">
                      <a16:colId xmlns:a16="http://schemas.microsoft.com/office/drawing/2014/main" val="3966755916"/>
                    </a:ext>
                  </a:extLst>
                </a:gridCol>
                <a:gridCol w="3825631">
                  <a:extLst>
                    <a:ext uri="{9D8B030D-6E8A-4147-A177-3AD203B41FA5}">
                      <a16:colId xmlns:a16="http://schemas.microsoft.com/office/drawing/2014/main" val="1220208177"/>
                    </a:ext>
                  </a:extLst>
                </a:gridCol>
                <a:gridCol w="4048369">
                  <a:extLst>
                    <a:ext uri="{9D8B030D-6E8A-4147-A177-3AD203B41FA5}">
                      <a16:colId xmlns:a16="http://schemas.microsoft.com/office/drawing/2014/main" val="1053231609"/>
                    </a:ext>
                  </a:extLst>
                </a:gridCol>
              </a:tblGrid>
              <a:tr h="503203">
                <a:tc>
                  <a:txBody>
                    <a:bodyPr/>
                    <a:lstStyle/>
                    <a:p>
                      <a:pPr algn="ctr"/>
                      <a:r>
                        <a:rPr kumimoji="0" lang="en-GB" altLang="en-US" sz="2400" b="0" i="0" u="none" strike="noStrike" cap="none" normalizeH="0" baseline="0" dirty="0">
                          <a:ln>
                            <a:noFill/>
                          </a:ln>
                          <a:solidFill>
                            <a:srgbClr val="002060"/>
                          </a:solidFill>
                          <a:effectLst/>
                          <a:latin typeface="Times New Roman" pitchFamily="18" charset="0"/>
                          <a:cs typeface="Times New Roman" pitchFamily="18" charset="0"/>
                          <a:sym typeface="Arial" charset="0"/>
                        </a:rPr>
                        <a:t>TITLE</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kumimoji="0" lang="en-GB" altLang="en-US" sz="2400" b="0" i="0" u="none" strike="noStrike" cap="none" normalizeH="0" baseline="0" dirty="0">
                          <a:ln>
                            <a:noFill/>
                          </a:ln>
                          <a:solidFill>
                            <a:srgbClr val="002060"/>
                          </a:solidFill>
                          <a:effectLst/>
                          <a:latin typeface="Times New Roman" pitchFamily="18" charset="0"/>
                          <a:cs typeface="Times New Roman" pitchFamily="18" charset="0"/>
                          <a:sym typeface="Arial" charset="0"/>
                        </a:rPr>
                        <a:t>AUTHOR</a:t>
                      </a:r>
                      <a:endParaRPr lang="en-IN" sz="2400" b="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en-US" sz="2400" b="0" i="0" u="none" strike="noStrike" cap="none" normalizeH="0" baseline="0" dirty="0">
                          <a:ln>
                            <a:noFill/>
                          </a:ln>
                          <a:solidFill>
                            <a:srgbClr val="002060"/>
                          </a:solidFill>
                          <a:effectLst/>
                          <a:latin typeface="Times New Roman" pitchFamily="18" charset="0"/>
                          <a:cs typeface="Times New Roman" pitchFamily="18" charset="0"/>
                          <a:sym typeface="Arial" charset="0"/>
                        </a:rPr>
                        <a:t>PROPOSED SYSTEM</a:t>
                      </a:r>
                      <a:endPar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charset="0"/>
                      </a:endParaRPr>
                    </a:p>
                    <a:p>
                      <a:endParaRPr lang="en-IN" sz="2400" b="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en-US" sz="2400" b="0" i="0" u="none" strike="noStrike" cap="none" normalizeH="0" baseline="0" dirty="0">
                          <a:ln>
                            <a:noFill/>
                          </a:ln>
                          <a:solidFill>
                            <a:srgbClr val="002060"/>
                          </a:solidFill>
                          <a:effectLst/>
                          <a:latin typeface="Times New Roman" pitchFamily="18" charset="0"/>
                          <a:cs typeface="Times New Roman" pitchFamily="18" charset="0"/>
                          <a:sym typeface="Arial" charset="0"/>
                        </a:rPr>
                        <a:t>LIMITATIONS</a:t>
                      </a:r>
                      <a:endPar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charset="0"/>
                      </a:endParaRPr>
                    </a:p>
                    <a:p>
                      <a:endParaRPr lang="en-IN" sz="2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97267779"/>
                  </a:ext>
                </a:extLst>
              </a:tr>
              <a:tr h="842019">
                <a:tc>
                  <a:txBody>
                    <a:bodyPr/>
                    <a:lstStyle/>
                    <a:p>
                      <a:r>
                        <a:rPr lang="en-GB" sz="2000" b="0" dirty="0">
                          <a:latin typeface="Times New Roman" panose="02020603050405020304" pitchFamily="18" charset="0"/>
                          <a:cs typeface="Times New Roman" panose="02020603050405020304" pitchFamily="18" charset="0"/>
                        </a:rPr>
                        <a:t>Ad Click Fraud Detection Using Machine Learning and Deep Learning</a:t>
                      </a:r>
                      <a:r>
                        <a:rPr lang="en-GB" sz="2000" b="0" baseline="0" dirty="0">
                          <a:latin typeface="Times New Roman" panose="02020603050405020304" pitchFamily="18" charset="0"/>
                          <a:cs typeface="Times New Roman" panose="02020603050405020304" pitchFamily="18" charset="0"/>
                        </a:rPr>
                        <a:t> Algorithms</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b="0" kern="1200" dirty="0" err="1">
                          <a:solidFill>
                            <a:schemeClr val="dk1"/>
                          </a:solidFill>
                          <a:effectLst/>
                          <a:latin typeface="Times New Roman" panose="02020603050405020304" pitchFamily="18" charset="0"/>
                          <a:ea typeface="+mn-ea"/>
                          <a:cs typeface="Times New Roman" panose="02020603050405020304" pitchFamily="18" charset="0"/>
                        </a:rPr>
                        <a:t>Reem</a:t>
                      </a:r>
                      <a:r>
                        <a:rPr lang="en-GB" sz="2000" b="0" kern="1200" dirty="0">
                          <a:solidFill>
                            <a:schemeClr val="dk1"/>
                          </a:solidFill>
                          <a:effectLst/>
                          <a:latin typeface="Times New Roman" panose="02020603050405020304" pitchFamily="18" charset="0"/>
                          <a:ea typeface="+mn-ea"/>
                          <a:cs typeface="Times New Roman" panose="02020603050405020304" pitchFamily="18" charset="0"/>
                        </a:rPr>
                        <a:t> A. </a:t>
                      </a:r>
                      <a:r>
                        <a:rPr lang="en-GB" sz="2000" b="0" kern="1200" dirty="0" err="1">
                          <a:solidFill>
                            <a:schemeClr val="dk1"/>
                          </a:solidFill>
                          <a:effectLst/>
                          <a:latin typeface="Times New Roman" panose="02020603050405020304" pitchFamily="18" charset="0"/>
                          <a:ea typeface="+mn-ea"/>
                          <a:cs typeface="Times New Roman" panose="02020603050405020304" pitchFamily="18" charset="0"/>
                        </a:rPr>
                        <a:t>Alzahrani</a:t>
                      </a:r>
                      <a:r>
                        <a:rPr lang="en-GB" sz="2000" b="0" kern="1200" dirty="0">
                          <a:solidFill>
                            <a:schemeClr val="dk1"/>
                          </a:solidFill>
                          <a:effectLst/>
                          <a:latin typeface="Times New Roman" panose="02020603050405020304" pitchFamily="18" charset="0"/>
                          <a:ea typeface="+mn-ea"/>
                          <a:cs typeface="Times New Roman" panose="02020603050405020304" pitchFamily="18"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GB" sz="2000" b="0" kern="1200" dirty="0" err="1">
                          <a:solidFill>
                            <a:schemeClr val="dk1"/>
                          </a:solidFill>
                          <a:effectLst/>
                          <a:latin typeface="Times New Roman" panose="02020603050405020304" pitchFamily="18" charset="0"/>
                          <a:ea typeface="+mn-ea"/>
                          <a:cs typeface="Times New Roman" panose="02020603050405020304" pitchFamily="18" charset="0"/>
                        </a:rPr>
                        <a:t>Malak</a:t>
                      </a:r>
                      <a:r>
                        <a:rPr lang="en-GB" sz="2000" b="0" kern="1200" baseline="0" dirty="0">
                          <a:solidFill>
                            <a:schemeClr val="dk1"/>
                          </a:solidFill>
                          <a:effectLst/>
                          <a:latin typeface="Times New Roman" panose="02020603050405020304" pitchFamily="18" charset="0"/>
                          <a:ea typeface="+mn-ea"/>
                          <a:cs typeface="Times New Roman" panose="02020603050405020304" pitchFamily="18" charset="0"/>
                        </a:rPr>
                        <a:t> </a:t>
                      </a:r>
                      <a:r>
                        <a:rPr lang="en-GB" sz="2000" b="0" kern="1200" baseline="0" dirty="0" err="1">
                          <a:solidFill>
                            <a:schemeClr val="dk1"/>
                          </a:solidFill>
                          <a:effectLst/>
                          <a:latin typeface="Times New Roman" panose="02020603050405020304" pitchFamily="18" charset="0"/>
                          <a:ea typeface="+mn-ea"/>
                          <a:cs typeface="Times New Roman" panose="02020603050405020304" pitchFamily="18" charset="0"/>
                        </a:rPr>
                        <a:t>Aljabri</a:t>
                      </a:r>
                      <a:r>
                        <a:rPr lang="en-GB" sz="2000" b="0" kern="1200" baseline="0" dirty="0">
                          <a:solidFill>
                            <a:schemeClr val="dk1"/>
                          </a:solidFill>
                          <a:effectLst/>
                          <a:latin typeface="Times New Roman" panose="02020603050405020304" pitchFamily="18" charset="0"/>
                          <a:ea typeface="+mn-ea"/>
                          <a:cs typeface="Times New Roman" panose="02020603050405020304" pitchFamily="18"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GB" sz="2000" b="0" kern="1200" baseline="0" dirty="0">
                          <a:solidFill>
                            <a:schemeClr val="dk1"/>
                          </a:solidFill>
                          <a:effectLst/>
                          <a:latin typeface="Times New Roman" panose="02020603050405020304" pitchFamily="18" charset="0"/>
                          <a:ea typeface="+mn-ea"/>
                          <a:cs typeface="Times New Roman" panose="02020603050405020304" pitchFamily="18" charset="0"/>
                        </a:rPr>
                        <a:t>And Rami </a:t>
                      </a:r>
                      <a:r>
                        <a:rPr lang="en-GB" sz="2000" b="0" kern="1200" baseline="0" dirty="0" err="1">
                          <a:solidFill>
                            <a:schemeClr val="dk1"/>
                          </a:solidFill>
                          <a:effectLst/>
                          <a:latin typeface="Times New Roman" panose="02020603050405020304" pitchFamily="18" charset="0"/>
                          <a:ea typeface="+mn-ea"/>
                          <a:cs typeface="Times New Roman" panose="02020603050405020304" pitchFamily="18" charset="0"/>
                        </a:rPr>
                        <a:t>Mustaf</a:t>
                      </a:r>
                      <a:r>
                        <a:rPr lang="en-GB" sz="2000" b="0" kern="1200" baseline="0" dirty="0">
                          <a:solidFill>
                            <a:schemeClr val="dk1"/>
                          </a:solidFill>
                          <a:effectLst/>
                          <a:latin typeface="Times New Roman" panose="02020603050405020304" pitchFamily="18" charset="0"/>
                          <a:ea typeface="+mn-ea"/>
                          <a:cs typeface="Times New Roman" panose="02020603050405020304" pitchFamily="18"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GB" sz="2000" b="0" kern="1200" baseline="0" dirty="0">
                          <a:solidFill>
                            <a:schemeClr val="dk1"/>
                          </a:solidFill>
                          <a:effectLst/>
                          <a:latin typeface="Times New Roman" panose="02020603050405020304" pitchFamily="18" charset="0"/>
                          <a:ea typeface="+mn-ea"/>
                          <a:cs typeface="Times New Roman" panose="02020603050405020304" pitchFamily="18" charset="0"/>
                        </a:rPr>
                        <a:t>A. </a:t>
                      </a:r>
                      <a:r>
                        <a:rPr lang="en-GB" sz="2000" b="0" kern="1200" baseline="0" dirty="0" err="1">
                          <a:solidFill>
                            <a:schemeClr val="dk1"/>
                          </a:solidFill>
                          <a:effectLst/>
                          <a:latin typeface="Times New Roman" panose="02020603050405020304" pitchFamily="18" charset="0"/>
                          <a:ea typeface="+mn-ea"/>
                          <a:cs typeface="Times New Roman" panose="02020603050405020304" pitchFamily="18" charset="0"/>
                        </a:rPr>
                        <a:t>Mohammand</a:t>
                      </a:r>
                      <a:r>
                        <a:rPr lang="en-GB" sz="2000" b="0" kern="1200" baseline="0" dirty="0">
                          <a:solidFill>
                            <a:schemeClr val="dk1"/>
                          </a:solidFill>
                          <a:effectLst/>
                          <a:latin typeface="Times New Roman" panose="02020603050405020304" pitchFamily="18" charset="0"/>
                          <a:ea typeface="+mn-ea"/>
                          <a:cs typeface="Times New Roman" panose="02020603050405020304" pitchFamily="18"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GB" sz="2000" b="0" kern="1200" baseline="0" dirty="0">
                          <a:solidFill>
                            <a:schemeClr val="dk1"/>
                          </a:solidFill>
                          <a:effectLst/>
                          <a:latin typeface="Times New Roman" panose="02020603050405020304" pitchFamily="18" charset="0"/>
                          <a:ea typeface="+mn-ea"/>
                          <a:cs typeface="Times New Roman" panose="02020603050405020304" pitchFamily="18" charset="0"/>
                        </a:rPr>
                        <a:t>2025</a:t>
                      </a:r>
                      <a:endParaRPr lang="en-IN" sz="20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GB" sz="2000" b="0" baseline="0" dirty="0">
                          <a:latin typeface="Times New Roman" panose="02020603050405020304" pitchFamily="18" charset="0"/>
                          <a:cs typeface="Times New Roman" panose="02020603050405020304" pitchFamily="18" charset="0"/>
                        </a:rPr>
                        <a:t>Machine Learning models to detect the online advertisement fraud.</a:t>
                      </a:r>
                    </a:p>
                  </a:txBody>
                  <a:tcPr/>
                </a:tc>
                <a:tc>
                  <a:txBody>
                    <a:bodyPr/>
                    <a:lstStyle/>
                    <a:p>
                      <a:r>
                        <a:rPr lang="en-IN" sz="2000" b="0" kern="1200" dirty="0">
                          <a:solidFill>
                            <a:schemeClr val="dk1"/>
                          </a:solidFill>
                          <a:effectLst/>
                          <a:latin typeface="Times New Roman" panose="02020603050405020304" pitchFamily="18" charset="0"/>
                          <a:ea typeface="+mn-ea"/>
                          <a:cs typeface="Times New Roman" panose="02020603050405020304" pitchFamily="18" charset="0"/>
                        </a:rPr>
                        <a:t>Weak Privacy Guarantees. Lack of Robust Representation Learning and Limited Adaptability.</a:t>
                      </a:r>
                      <a:endParaRPr lang="en-US"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16486516"/>
                  </a:ext>
                </a:extLst>
              </a:tr>
              <a:tr h="1202376">
                <a:tc>
                  <a:txBody>
                    <a:bodyPr/>
                    <a:lstStyle/>
                    <a:p>
                      <a:r>
                        <a:rPr lang="en-IN" sz="2000" b="0" kern="1200" dirty="0">
                          <a:solidFill>
                            <a:schemeClr val="dk1"/>
                          </a:solidFill>
                          <a:effectLst/>
                          <a:latin typeface="Times New Roman" panose="02020603050405020304" pitchFamily="18" charset="0"/>
                          <a:ea typeface="+mn-ea"/>
                          <a:cs typeface="Times New Roman" panose="02020603050405020304" pitchFamily="18" charset="0"/>
                        </a:rPr>
                        <a:t>Online Ad Click Fraud Detection Using Graph-Based Methods</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kern="1200" dirty="0">
                          <a:solidFill>
                            <a:schemeClr val="dk1"/>
                          </a:solidFill>
                          <a:effectLst/>
                          <a:latin typeface="Times New Roman" panose="02020603050405020304" pitchFamily="18" charset="0"/>
                          <a:ea typeface="+mn-ea"/>
                          <a:cs typeface="Times New Roman" panose="02020603050405020304" pitchFamily="18" charset="0"/>
                        </a:rPr>
                        <a:t>K. Sharma, R. Patel, V. Kumar, 2024</a:t>
                      </a:r>
                    </a:p>
                  </a:txBody>
                  <a:tcPr/>
                </a:tc>
                <a:tc>
                  <a:txBody>
                    <a:bodyPr/>
                    <a:lstStyle/>
                    <a:p>
                      <a:r>
                        <a:rPr lang="en-US" sz="2000" b="0" dirty="0">
                          <a:latin typeface="Times New Roman" panose="02020603050405020304" pitchFamily="18" charset="0"/>
                          <a:cs typeface="Times New Roman" panose="02020603050405020304" pitchFamily="18" charset="0"/>
                        </a:rPr>
                        <a:t>Detects fraudulent patterns.</a:t>
                      </a:r>
                    </a:p>
                  </a:txBody>
                  <a:tcPr/>
                </a:tc>
                <a:tc>
                  <a:txBody>
                    <a:bodyPr/>
                    <a:lstStyle/>
                    <a:p>
                      <a:r>
                        <a:rPr lang="en-US" sz="2000" b="0" dirty="0">
                          <a:latin typeface="Times New Roman" panose="02020603050405020304" pitchFamily="18" charset="0"/>
                          <a:cs typeface="Times New Roman" panose="02020603050405020304" pitchFamily="18" charset="0"/>
                        </a:rPr>
                        <a:t>Computationally intensive on very large networks.</a:t>
                      </a:r>
                    </a:p>
                    <a:p>
                      <a:r>
                        <a:rPr lang="en-US" sz="2000" b="0" dirty="0">
                          <a:latin typeface="Times New Roman" panose="02020603050405020304" pitchFamily="18" charset="0"/>
                          <a:cs typeface="Times New Roman" panose="02020603050405020304" pitchFamily="18" charset="0"/>
                        </a:rPr>
                        <a:t>Requires high-quality and complete relational data.</a:t>
                      </a:r>
                    </a:p>
                  </a:txBody>
                  <a:tcPr/>
                </a:tc>
                <a:extLst>
                  <a:ext uri="{0D108BD9-81ED-4DB2-BD59-A6C34878D82A}">
                    <a16:rowId xmlns:a16="http://schemas.microsoft.com/office/drawing/2014/main" val="739500081"/>
                  </a:ext>
                </a:extLst>
              </a:tr>
              <a:tr h="101829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kern="1200" dirty="0">
                          <a:solidFill>
                            <a:schemeClr val="dk1"/>
                          </a:solidFill>
                          <a:effectLst/>
                          <a:latin typeface="Times New Roman" panose="02020603050405020304" pitchFamily="18" charset="0"/>
                          <a:ea typeface="+mn-ea"/>
                          <a:cs typeface="Times New Roman" panose="02020603050405020304" pitchFamily="18" charset="0"/>
                        </a:rPr>
                        <a:t>A Survey on Ad Fraud Detection Techniques</a:t>
                      </a:r>
                      <a:endParaRPr lang="en-IN" sz="2000" b="0" dirty="0">
                        <a:latin typeface="Times New Roman" panose="02020603050405020304" pitchFamily="18" charset="0"/>
                        <a:cs typeface="Times New Roman" panose="02020603050405020304" pitchFamily="18" charset="0"/>
                      </a:endParaRPr>
                    </a:p>
                  </a:txBody>
                  <a:tcPr/>
                </a:tc>
                <a:tc>
                  <a:txBody>
                    <a:bodyPr/>
                    <a:lstStyle/>
                    <a:p>
                      <a:r>
                        <a:rPr lang="en-IN" sz="2000" b="0" kern="1200" dirty="0">
                          <a:solidFill>
                            <a:schemeClr val="dk1"/>
                          </a:solidFill>
                          <a:effectLst/>
                          <a:latin typeface="Times New Roman" panose="02020603050405020304" pitchFamily="18" charset="0"/>
                          <a:ea typeface="+mn-ea"/>
                          <a:cs typeface="Times New Roman" panose="02020603050405020304" pitchFamily="18" charset="0"/>
                        </a:rPr>
                        <a:t>A. Gupta, P. Roy, </a:t>
                      </a:r>
                    </a:p>
                    <a:p>
                      <a:r>
                        <a:rPr lang="en-IN" sz="2000" b="0" kern="1200" dirty="0">
                          <a:solidFill>
                            <a:schemeClr val="dk1"/>
                          </a:solidFill>
                          <a:effectLst/>
                          <a:latin typeface="Times New Roman" panose="02020603050405020304" pitchFamily="18" charset="0"/>
                          <a:ea typeface="+mn-ea"/>
                          <a:cs typeface="Times New Roman" panose="02020603050405020304" pitchFamily="18" charset="0"/>
                        </a:rPr>
                        <a:t>S. Mehta, 2023</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Comprehensive survey of ad click fraud detection methods.</a:t>
                      </a:r>
                    </a:p>
                  </a:txBody>
                  <a:tcPr/>
                </a:tc>
                <a:tc>
                  <a:txBody>
                    <a:bodyPr/>
                    <a:lstStyle/>
                    <a:p>
                      <a:r>
                        <a:rPr lang="en-US" sz="2000" b="0" dirty="0">
                          <a:latin typeface="Times New Roman" panose="02020603050405020304" pitchFamily="18" charset="0"/>
                          <a:cs typeface="Times New Roman" panose="02020603050405020304" pitchFamily="18" charset="0"/>
                        </a:rPr>
                        <a:t>Scalability issues due to massive click data volumes.</a:t>
                      </a:r>
                    </a:p>
                    <a:p>
                      <a:r>
                        <a:rPr lang="en-US" sz="2000" b="0" dirty="0">
                          <a:latin typeface="Times New Roman" panose="02020603050405020304" pitchFamily="18" charset="0"/>
                          <a:cs typeface="Times New Roman" panose="02020603050405020304" pitchFamily="18" charset="0"/>
                        </a:rPr>
                        <a:t>Real-time detection remains computationally demanding.</a:t>
                      </a:r>
                    </a:p>
                  </a:txBody>
                  <a:tcPr/>
                </a:tc>
                <a:extLst>
                  <a:ext uri="{0D108BD9-81ED-4DB2-BD59-A6C34878D82A}">
                    <a16:rowId xmlns:a16="http://schemas.microsoft.com/office/drawing/2014/main" val="3433147516"/>
                  </a:ext>
                </a:extLst>
              </a:tr>
            </a:tbl>
          </a:graphicData>
        </a:graphic>
      </p:graphicFrame>
    </p:spTree>
    <p:extLst>
      <p:ext uri="{BB962C8B-B14F-4D97-AF65-F5344CB8AC3E}">
        <p14:creationId xmlns:p14="http://schemas.microsoft.com/office/powerpoint/2010/main" val="3570926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84568" y="1"/>
            <a:ext cx="1307432" cy="934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227221" y="309192"/>
            <a:ext cx="8213558"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LITERATURE</a:t>
            </a:r>
            <a:r>
              <a:rPr lang="en-IN" sz="2600" b="1" dirty="0">
                <a:latin typeface="Times New Roman" panose="02020603050405020304" pitchFamily="18" charset="0"/>
                <a:cs typeface="Times New Roman" panose="02020603050405020304" pitchFamily="18" charset="0"/>
              </a:rPr>
              <a:t> SURVEY</a:t>
            </a:r>
            <a:endParaRPr lang="en-IN" sz="2600"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849068768"/>
              </p:ext>
            </p:extLst>
          </p:nvPr>
        </p:nvGraphicFramePr>
        <p:xfrm>
          <a:off x="0" y="1177945"/>
          <a:ext cx="12192000" cy="3749040"/>
        </p:xfrm>
        <a:graphic>
          <a:graphicData uri="http://schemas.openxmlformats.org/drawingml/2006/table">
            <a:tbl>
              <a:tblPr firstRow="1" bandRow="1">
                <a:tableStyleId>{5C22544A-7EE6-4342-B048-85BDC9FD1C3A}</a:tableStyleId>
              </a:tblPr>
              <a:tblGrid>
                <a:gridCol w="2150533">
                  <a:extLst>
                    <a:ext uri="{9D8B030D-6E8A-4147-A177-3AD203B41FA5}">
                      <a16:colId xmlns:a16="http://schemas.microsoft.com/office/drawing/2014/main" val="3799680782"/>
                    </a:ext>
                  </a:extLst>
                </a:gridCol>
                <a:gridCol w="2167467">
                  <a:extLst>
                    <a:ext uri="{9D8B030D-6E8A-4147-A177-3AD203B41FA5}">
                      <a16:colId xmlns:a16="http://schemas.microsoft.com/office/drawing/2014/main" val="3966755916"/>
                    </a:ext>
                  </a:extLst>
                </a:gridCol>
                <a:gridCol w="3825631">
                  <a:extLst>
                    <a:ext uri="{9D8B030D-6E8A-4147-A177-3AD203B41FA5}">
                      <a16:colId xmlns:a16="http://schemas.microsoft.com/office/drawing/2014/main" val="1220208177"/>
                    </a:ext>
                  </a:extLst>
                </a:gridCol>
                <a:gridCol w="4048369">
                  <a:extLst>
                    <a:ext uri="{9D8B030D-6E8A-4147-A177-3AD203B41FA5}">
                      <a16:colId xmlns:a16="http://schemas.microsoft.com/office/drawing/2014/main" val="1053231609"/>
                    </a:ext>
                  </a:extLst>
                </a:gridCol>
              </a:tblGrid>
              <a:tr h="503203">
                <a:tc>
                  <a:txBody>
                    <a:bodyPr/>
                    <a:lstStyle/>
                    <a:p>
                      <a:pPr algn="ctr"/>
                      <a:r>
                        <a:rPr kumimoji="0" lang="en-GB" altLang="en-US" sz="2400" b="0" i="0" u="none" strike="noStrike" cap="none" normalizeH="0" baseline="0" dirty="0">
                          <a:ln>
                            <a:noFill/>
                          </a:ln>
                          <a:solidFill>
                            <a:srgbClr val="002060"/>
                          </a:solidFill>
                          <a:effectLst/>
                          <a:latin typeface="Times New Roman" pitchFamily="18" charset="0"/>
                          <a:cs typeface="Times New Roman" pitchFamily="18" charset="0"/>
                          <a:sym typeface="Arial" charset="0"/>
                        </a:rPr>
                        <a:t>TITLE</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kumimoji="0" lang="en-GB" altLang="en-US" sz="2400" b="0" i="0" u="none" strike="noStrike" cap="none" normalizeH="0" baseline="0" dirty="0">
                          <a:ln>
                            <a:noFill/>
                          </a:ln>
                          <a:solidFill>
                            <a:srgbClr val="002060"/>
                          </a:solidFill>
                          <a:effectLst/>
                          <a:latin typeface="Times New Roman" pitchFamily="18" charset="0"/>
                          <a:cs typeface="Times New Roman" pitchFamily="18" charset="0"/>
                          <a:sym typeface="Arial" charset="0"/>
                        </a:rPr>
                        <a:t>AUTHOR</a:t>
                      </a:r>
                      <a:endParaRPr lang="en-IN" sz="2400" b="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en-US" sz="2400" b="0" i="0" u="none" strike="noStrike" cap="none" normalizeH="0" baseline="0" dirty="0">
                          <a:ln>
                            <a:noFill/>
                          </a:ln>
                          <a:solidFill>
                            <a:srgbClr val="002060"/>
                          </a:solidFill>
                          <a:effectLst/>
                          <a:latin typeface="Times New Roman" pitchFamily="18" charset="0"/>
                          <a:cs typeface="Times New Roman" pitchFamily="18" charset="0"/>
                          <a:sym typeface="Arial" charset="0"/>
                        </a:rPr>
                        <a:t>PROPOSED SYSTEM</a:t>
                      </a:r>
                      <a:endPar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charset="0"/>
                      </a:endParaRPr>
                    </a:p>
                    <a:p>
                      <a:endParaRPr lang="en-IN" sz="2400" b="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en-US" sz="2400" b="0" i="0" u="none" strike="noStrike" cap="none" normalizeH="0" baseline="0" dirty="0">
                          <a:ln>
                            <a:noFill/>
                          </a:ln>
                          <a:solidFill>
                            <a:srgbClr val="002060"/>
                          </a:solidFill>
                          <a:effectLst/>
                          <a:latin typeface="Times New Roman" pitchFamily="18" charset="0"/>
                          <a:cs typeface="Times New Roman" pitchFamily="18" charset="0"/>
                          <a:sym typeface="Arial" charset="0"/>
                        </a:rPr>
                        <a:t>LIMITATIONS</a:t>
                      </a:r>
                      <a:endPar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charset="0"/>
                      </a:endParaRPr>
                    </a:p>
                    <a:p>
                      <a:endParaRPr lang="en-IN" sz="2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97267779"/>
                  </a:ext>
                </a:extLst>
              </a:tr>
              <a:tr h="8420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kern="1200" dirty="0">
                          <a:solidFill>
                            <a:schemeClr val="dk1"/>
                          </a:solidFill>
                          <a:effectLst/>
                          <a:latin typeface="Times New Roman" panose="02020603050405020304" pitchFamily="18" charset="0"/>
                          <a:ea typeface="+mn-ea"/>
                          <a:cs typeface="Times New Roman" panose="02020603050405020304" pitchFamily="18" charset="0"/>
                        </a:rPr>
                        <a:t>Real-Time Detection of Ad Click Fraud Using Ensemble Learning</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kern="1200" dirty="0" err="1">
                          <a:solidFill>
                            <a:schemeClr val="dk1"/>
                          </a:solidFill>
                          <a:effectLst/>
                          <a:latin typeface="Times New Roman" panose="02020603050405020304" pitchFamily="18" charset="0"/>
                          <a:ea typeface="+mn-ea"/>
                          <a:cs typeface="Times New Roman" panose="02020603050405020304" pitchFamily="18" charset="0"/>
                        </a:rPr>
                        <a:t>Sneha</a:t>
                      </a:r>
                      <a:r>
                        <a:rPr lang="en-IN" sz="2000" b="0" kern="1200" dirty="0">
                          <a:solidFill>
                            <a:schemeClr val="dk1"/>
                          </a:solidFill>
                          <a:effectLst/>
                          <a:latin typeface="Times New Roman" panose="02020603050405020304" pitchFamily="18" charset="0"/>
                          <a:ea typeface="+mn-ea"/>
                          <a:cs typeface="Times New Roman" panose="02020603050405020304" pitchFamily="18" charset="0"/>
                        </a:rPr>
                        <a:t> Reddy, Manish Jain, Abhishek </a:t>
                      </a:r>
                      <a:r>
                        <a:rPr lang="en-IN" sz="2000" b="0" kern="1200" dirty="0" err="1">
                          <a:solidFill>
                            <a:schemeClr val="dk1"/>
                          </a:solidFill>
                          <a:effectLst/>
                          <a:latin typeface="Times New Roman" panose="02020603050405020304" pitchFamily="18" charset="0"/>
                          <a:ea typeface="+mn-ea"/>
                          <a:cs typeface="Times New Roman" panose="02020603050405020304" pitchFamily="18" charset="0"/>
                        </a:rPr>
                        <a:t>Verma</a:t>
                      </a:r>
                      <a:r>
                        <a:rPr lang="en-IN" sz="2000" b="0" kern="1200" dirty="0">
                          <a:solidFill>
                            <a:schemeClr val="dk1"/>
                          </a:solidFill>
                          <a:effectLst/>
                          <a:latin typeface="Times New Roman" panose="02020603050405020304" pitchFamily="18" charset="0"/>
                          <a:ea typeface="+mn-ea"/>
                          <a:cs typeface="Times New Roman" panose="02020603050405020304" pitchFamily="18" charset="0"/>
                        </a:rPr>
                        <a:t>, 2022</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Detects automated bots and coordinated human-assisted fraud.</a:t>
                      </a:r>
                    </a:p>
                  </a:txBody>
                  <a:tcPr/>
                </a:tc>
                <a:tc>
                  <a:txBody>
                    <a:bodyPr/>
                    <a:lstStyle/>
                    <a:p>
                      <a:r>
                        <a:rPr lang="en-US" sz="2000" b="0" dirty="0">
                          <a:latin typeface="Times New Roman" panose="02020603050405020304" pitchFamily="18" charset="0"/>
                          <a:cs typeface="Times New Roman" panose="02020603050405020304" pitchFamily="18" charset="0"/>
                        </a:rPr>
                        <a:t>Requires careful feature selection and preprocessing.</a:t>
                      </a:r>
                    </a:p>
                    <a:p>
                      <a:r>
                        <a:rPr lang="en-US" sz="2000" b="0" dirty="0">
                          <a:latin typeface="Times New Roman" panose="02020603050405020304" pitchFamily="18" charset="0"/>
                          <a:cs typeface="Times New Roman" panose="02020603050405020304" pitchFamily="18" charset="0"/>
                        </a:rPr>
                        <a:t>Performance depends on high-quality labeled data.</a:t>
                      </a:r>
                    </a:p>
                  </a:txBody>
                  <a:tcPr/>
                </a:tc>
                <a:extLst>
                  <a:ext uri="{0D108BD9-81ED-4DB2-BD59-A6C34878D82A}">
                    <a16:rowId xmlns:a16="http://schemas.microsoft.com/office/drawing/2014/main" val="3414803914"/>
                  </a:ext>
                </a:extLst>
              </a:tr>
              <a:tr h="8420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kern="1200" dirty="0">
                          <a:solidFill>
                            <a:schemeClr val="dk1"/>
                          </a:solidFill>
                          <a:effectLst/>
                          <a:latin typeface="Times New Roman" panose="02020603050405020304" pitchFamily="18" charset="0"/>
                          <a:ea typeface="+mn-ea"/>
                          <a:cs typeface="Times New Roman" panose="02020603050405020304" pitchFamily="18" charset="0"/>
                        </a:rPr>
                        <a:t>Machine Learning Based Click Fraud Detection in Online Advertising</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kern="1200" dirty="0">
                          <a:solidFill>
                            <a:schemeClr val="dk1"/>
                          </a:solidFill>
                          <a:effectLst/>
                          <a:latin typeface="Times New Roman" panose="02020603050405020304" pitchFamily="18" charset="0"/>
                          <a:ea typeface="+mn-ea"/>
                          <a:cs typeface="Times New Roman" panose="02020603050405020304" pitchFamily="18" charset="0"/>
                        </a:rPr>
                        <a:t>Pooja Gupta, Rakesh Sharma, Anil Kumar, 2021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Machine learning framework to detect click fraud in online advertising.</a:t>
                      </a:r>
                      <a:endParaRPr lang="en-IN" sz="2000" b="0" dirty="0">
                        <a:latin typeface="Times New Roman" panose="02020603050405020304" pitchFamily="18" charset="0"/>
                        <a:cs typeface="Times New Roman" panose="02020603050405020304" pitchFamily="18" charset="0"/>
                      </a:endParaRPr>
                    </a:p>
                  </a:txBody>
                  <a:tcPr/>
                </a:tc>
                <a:tc>
                  <a:txBody>
                    <a:bodyPr/>
                    <a:lstStyle/>
                    <a:p>
                      <a:r>
                        <a:rPr lang="en-US" sz="2000" b="0" dirty="0">
                          <a:latin typeface="Times New Roman" panose="02020603050405020304" pitchFamily="18" charset="0"/>
                          <a:cs typeface="Times New Roman" panose="02020603050405020304" pitchFamily="18" charset="0"/>
                        </a:rPr>
                        <a:t>Requires well-preprocessed feature data.</a:t>
                      </a:r>
                    </a:p>
                    <a:p>
                      <a:r>
                        <a:rPr lang="en-US" sz="2000" b="0" dirty="0">
                          <a:latin typeface="Times New Roman" panose="02020603050405020304" pitchFamily="18" charset="0"/>
                          <a:cs typeface="Times New Roman" panose="02020603050405020304" pitchFamily="18" charset="0"/>
                        </a:rPr>
                        <a:t>Performance depends on classifier selection and tuning.</a:t>
                      </a:r>
                    </a:p>
                  </a:txBody>
                  <a:tcPr/>
                </a:tc>
                <a:extLst>
                  <a:ext uri="{0D108BD9-81ED-4DB2-BD59-A6C34878D82A}">
                    <a16:rowId xmlns:a16="http://schemas.microsoft.com/office/drawing/2014/main" val="1916486516"/>
                  </a:ext>
                </a:extLst>
              </a:tr>
            </a:tbl>
          </a:graphicData>
        </a:graphic>
      </p:graphicFrame>
    </p:spTree>
    <p:extLst>
      <p:ext uri="{BB962C8B-B14F-4D97-AF65-F5344CB8AC3E}">
        <p14:creationId xmlns:p14="http://schemas.microsoft.com/office/powerpoint/2010/main" val="2397567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227221" y="473311"/>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sym typeface="Arial" panose="020B0604020202020204" pitchFamily="34" charset="0"/>
              </a:rPr>
              <a:t>PROPOSED SYSTEM </a:t>
            </a:r>
          </a:p>
        </p:txBody>
      </p:sp>
      <p:sp>
        <p:nvSpPr>
          <p:cNvPr id="3" name="TextBox 2"/>
          <p:cNvSpPr txBox="1"/>
          <p:nvPr/>
        </p:nvSpPr>
        <p:spPr>
          <a:xfrm>
            <a:off x="1114926" y="1485023"/>
            <a:ext cx="9793705" cy="3903954"/>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Uses Machine Learning–based ad fraud detection</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Classifies clicks into Human and Bot</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Employs Random Forest and </a:t>
            </a:r>
            <a:r>
              <a:rPr lang="en-US" sz="2400" dirty="0" err="1">
                <a:latin typeface="Times New Roman" pitchFamily="18" charset="0"/>
                <a:cs typeface="Times New Roman" pitchFamily="18" charset="0"/>
              </a:rPr>
              <a:t>XGBoost</a:t>
            </a:r>
            <a:r>
              <a:rPr lang="en-US" sz="2400" dirty="0">
                <a:latin typeface="Times New Roman" pitchFamily="18" charset="0"/>
                <a:cs typeface="Times New Roman" pitchFamily="18" charset="0"/>
              </a:rPr>
              <a:t> models</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Performs behavioral feature extraction ( Feature Engineering )</a:t>
            </a:r>
          </a:p>
          <a:p>
            <a:pPr marL="1257300" lvl="2" indent="-342900" algn="just">
              <a:lnSpc>
                <a:spcPct val="150000"/>
              </a:lnSpc>
              <a:buFont typeface="Arial" pitchFamily="34" charset="0"/>
              <a:buChar char="•"/>
            </a:pPr>
            <a:r>
              <a:rPr lang="en-US" sz="2400" dirty="0">
                <a:latin typeface="Times New Roman" pitchFamily="18" charset="0"/>
                <a:cs typeface="Times New Roman" pitchFamily="18" charset="0"/>
              </a:rPr>
              <a:t>Click time gap</a:t>
            </a:r>
          </a:p>
          <a:p>
            <a:pPr marL="1257300" lvl="2" indent="-342900" algn="just">
              <a:lnSpc>
                <a:spcPct val="150000"/>
              </a:lnSpc>
              <a:buFont typeface="Arial" pitchFamily="34" charset="0"/>
              <a:buChar char="•"/>
            </a:pPr>
            <a:r>
              <a:rPr lang="en-US" sz="2400" dirty="0">
                <a:latin typeface="Times New Roman" pitchFamily="18" charset="0"/>
                <a:cs typeface="Times New Roman" pitchFamily="18" charset="0"/>
              </a:rPr>
              <a:t>IP click frequency</a:t>
            </a:r>
          </a:p>
          <a:p>
            <a:pPr marL="1257300" lvl="2" indent="-342900" algn="just">
              <a:lnSpc>
                <a:spcPct val="150000"/>
              </a:lnSpc>
              <a:buFont typeface="Arial" pitchFamily="34" charset="0"/>
              <a:buChar char="•"/>
            </a:pPr>
            <a:r>
              <a:rPr lang="en-US" sz="2400" dirty="0">
                <a:latin typeface="Times New Roman" pitchFamily="18" charset="0"/>
                <a:cs typeface="Times New Roman" pitchFamily="18" charset="0"/>
              </a:rPr>
              <a:t>Night-time activity</a:t>
            </a:r>
          </a:p>
        </p:txBody>
      </p:sp>
    </p:spTree>
    <p:extLst>
      <p:ext uri="{BB962C8B-B14F-4D97-AF65-F5344CB8AC3E}">
        <p14:creationId xmlns:p14="http://schemas.microsoft.com/office/powerpoint/2010/main" val="159438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114926" y="1554391"/>
            <a:ext cx="9793705" cy="3349956"/>
          </a:xfrm>
          <a:prstGeom prst="rect">
            <a:avLst/>
          </a:prstGeom>
          <a:noFill/>
        </p:spPr>
        <p:txBody>
          <a:bodyPr wrap="square" rtlCol="0">
            <a:spAutoFit/>
          </a:bodyPr>
          <a:lstStyle/>
          <a:p>
            <a:pPr algn="just">
              <a:lnSpc>
                <a:spcPct val="150000"/>
              </a:lnSpc>
            </a:pPr>
            <a:r>
              <a:rPr lang="en-US" sz="2400" b="1" dirty="0">
                <a:latin typeface="Times New Roman" pitchFamily="18" charset="0"/>
                <a:cs typeface="Times New Roman" pitchFamily="18" charset="0"/>
              </a:rPr>
              <a:t>Advantages :</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Handles imbalanced data effectively</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Provides real-time prediction using Flask web app</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Reduces false positives and false negatives</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Scalable and adaptable to new fraud patterns</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Improves overall accuracy and reliability</a:t>
            </a:r>
          </a:p>
        </p:txBody>
      </p:sp>
    </p:spTree>
    <p:extLst>
      <p:ext uri="{BB962C8B-B14F-4D97-AF65-F5344CB8AC3E}">
        <p14:creationId xmlns:p14="http://schemas.microsoft.com/office/powerpoint/2010/main" val="1234467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8316"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844062" y="738554"/>
            <a:ext cx="9768253" cy="5811715"/>
          </a:xfrm>
          <a:prstGeom prst="rect">
            <a:avLst/>
          </a:prstGeom>
          <a:noFill/>
        </p:spPr>
        <p:txBody>
          <a:bodyPr wrap="square" rtlCol="0">
            <a:spAutoFit/>
          </a:bodyPr>
          <a:lstStyle/>
          <a:p>
            <a:endParaRPr lang="en-IN" dirty="0"/>
          </a:p>
        </p:txBody>
      </p:sp>
      <p:sp>
        <p:nvSpPr>
          <p:cNvPr id="8" name="TextBox 7"/>
          <p:cNvSpPr txBox="1"/>
          <p:nvPr/>
        </p:nvSpPr>
        <p:spPr>
          <a:xfrm>
            <a:off x="1293124" y="476944"/>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rPr>
              <a:t>Architecture</a:t>
            </a:r>
            <a:r>
              <a:rPr lang="en-GB" sz="2800" b="1" dirty="0"/>
              <a:t> Diagram</a:t>
            </a:r>
            <a:endParaRPr lang="en-IN" sz="2800" b="1" dirty="0"/>
          </a:p>
        </p:txBody>
      </p:sp>
      <p:pic>
        <p:nvPicPr>
          <p:cNvPr id="11" name="Picture 10">
            <a:extLst>
              <a:ext uri="{FF2B5EF4-FFF2-40B4-BE49-F238E27FC236}">
                <a16:creationId xmlns:a16="http://schemas.microsoft.com/office/drawing/2014/main" id="{D1C79D47-6493-447D-C742-6224C4AE3D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7363" y="1081377"/>
            <a:ext cx="9932013" cy="5329160"/>
          </a:xfrm>
          <a:prstGeom prst="rect">
            <a:avLst/>
          </a:prstGeom>
        </p:spPr>
      </p:pic>
    </p:spTree>
    <p:extLst>
      <p:ext uri="{BB962C8B-B14F-4D97-AF65-F5344CB8AC3E}">
        <p14:creationId xmlns:p14="http://schemas.microsoft.com/office/powerpoint/2010/main" val="4249963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227221" y="473311"/>
            <a:ext cx="8213558"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SYSTEM REQUIREDMENT</a:t>
            </a:r>
            <a:endParaRPr lang="en-IN" sz="2800" b="1" dirty="0"/>
          </a:p>
        </p:txBody>
      </p:sp>
      <p:sp>
        <p:nvSpPr>
          <p:cNvPr id="3" name="TextBox 2"/>
          <p:cNvSpPr txBox="1"/>
          <p:nvPr/>
        </p:nvSpPr>
        <p:spPr>
          <a:xfrm>
            <a:off x="492369" y="1204067"/>
            <a:ext cx="11523669" cy="532453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HARDWARE REQUIREDMENT</a:t>
            </a:r>
          </a:p>
          <a:p>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PROCESSOR	:	INTEL CORE I5 / I7 OR EQUIVALENT</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RAM	             	:	MINIMUM 8 GB (RECOMMENDED 16 GB)</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STORAGE      :	500 GB HDD OR SSD</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GPU	             	:	NVIDIA GPU WITH CUDA SUPPORT </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SOFTWARE REQUIREDMENT</a:t>
            </a:r>
          </a:p>
          <a:p>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OPERATING SYSTEM	           	:	WINDOWS 10 / 11 (64-BIT)</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PROGRAMMING LANGUAGE     	:	PYTHON 3.9+</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FRAMEWORKS		            	: 	TENSORFLOW, KERAS, SCIKIT-LEARN, TRANSFORMERS</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LIBRARIES		            		: 	NUMPY, PANDAS, OPENCV, SEABORN, MATPLOTLIB</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DEVELOPMENT ENVIRONMENT 	: 	JUPYTER NOTEBOOK / ANACONDA</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DEPLOYMENT		            	: 	FLASK (FOR USER INTERFACE)</a:t>
            </a:r>
          </a:p>
        </p:txBody>
      </p:sp>
    </p:spTree>
    <p:extLst>
      <p:ext uri="{BB962C8B-B14F-4D97-AF65-F5344CB8AC3E}">
        <p14:creationId xmlns:p14="http://schemas.microsoft.com/office/powerpoint/2010/main" val="3465235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6DE50-6A0B-7EAF-E8BA-4E65CA4C98D4}"/>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68A63FA5-C3E3-6170-E3B2-4ACFE2E2CF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BB4C2D82-F861-2C4E-5A57-848592F90682}"/>
              </a:ext>
            </a:extLst>
          </p:cNvPr>
          <p:cNvSpPr txBox="1"/>
          <p:nvPr/>
        </p:nvSpPr>
        <p:spPr>
          <a:xfrm>
            <a:off x="1114926" y="1503685"/>
            <a:ext cx="9793705" cy="334995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DATA LOADING</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DATA ACQUISITION</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DATA PREPROCESSING</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DATA CLEANING</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MODEL TRAINING </a:t>
            </a:r>
          </a:p>
          <a:p>
            <a:pPr marL="342900" indent="-342900" algn="just">
              <a:lnSpc>
                <a:spcPct val="150000"/>
              </a:lnSpc>
              <a:buFont typeface="Arial" panose="020B0604020202020204" pitchFamily="34" charset="0"/>
              <a:buChar char="•"/>
            </a:pPr>
            <a:r>
              <a:rPr lang="en-US" sz="2400" dirty="0">
                <a:latin typeface="Times New Roman" pitchFamily="18" charset="0"/>
                <a:cs typeface="Times New Roman" pitchFamily="18" charset="0"/>
              </a:rPr>
              <a:t>DATA SPLITTING</a:t>
            </a:r>
          </a:p>
        </p:txBody>
      </p:sp>
      <p:sp>
        <p:nvSpPr>
          <p:cNvPr id="5" name="TextBox 4">
            <a:extLst>
              <a:ext uri="{FF2B5EF4-FFF2-40B4-BE49-F238E27FC236}">
                <a16:creationId xmlns:a16="http://schemas.microsoft.com/office/drawing/2014/main" id="{EA136259-45F5-DBC0-4EFD-BDF2442568D2}"/>
              </a:ext>
            </a:extLst>
          </p:cNvPr>
          <p:cNvSpPr txBox="1"/>
          <p:nvPr/>
        </p:nvSpPr>
        <p:spPr>
          <a:xfrm>
            <a:off x="1227221" y="473311"/>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sym typeface="Arial" panose="020B0604020202020204" pitchFamily="34" charset="0"/>
              </a:rPr>
              <a:t>MODULES</a:t>
            </a:r>
          </a:p>
        </p:txBody>
      </p:sp>
    </p:spTree>
    <p:extLst>
      <p:ext uri="{BB962C8B-B14F-4D97-AF65-F5344CB8AC3E}">
        <p14:creationId xmlns:p14="http://schemas.microsoft.com/office/powerpoint/2010/main" val="2896405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7A01C-1845-D8FA-3A74-C50FC5355EA1}"/>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F184B965-B686-3676-1C8C-831FB4A5C0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11F224F8-3FB1-939E-798E-3CCB4C34FB1C}"/>
              </a:ext>
            </a:extLst>
          </p:cNvPr>
          <p:cNvSpPr txBox="1"/>
          <p:nvPr/>
        </p:nvSpPr>
        <p:spPr>
          <a:xfrm>
            <a:off x="1114926" y="1541009"/>
            <a:ext cx="9793705" cy="3903954"/>
          </a:xfrm>
          <a:prstGeom prst="rect">
            <a:avLst/>
          </a:prstGeom>
          <a:noFill/>
        </p:spPr>
        <p:txBody>
          <a:bodyPr wrap="square" rtlCol="0">
            <a:spAutoFit/>
          </a:bodyPr>
          <a:lstStyle/>
          <a:p>
            <a:pPr algn="just">
              <a:lnSpc>
                <a:spcPct val="150000"/>
              </a:lnSpc>
            </a:pPr>
            <a:r>
              <a:rPr lang="en-US" sz="2500" b="1" dirty="0">
                <a:latin typeface="Times New Roman" panose="02020603050405020304" pitchFamily="18" charset="0"/>
                <a:cs typeface="Times New Roman" pitchFamily="18" charset="0"/>
              </a:rPr>
              <a:t>DATA LOADING</a:t>
            </a:r>
            <a:endParaRPr lang="en-IN" sz="25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loading is the process of copying and loading data sets from a source file.</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Source file extract from </a:t>
            </a:r>
            <a:r>
              <a:rPr lang="en-IN" sz="2400" b="1" dirty="0">
                <a:latin typeface="Times New Roman" panose="02020603050405020304" pitchFamily="18" charset="0"/>
                <a:cs typeface="Times New Roman" panose="02020603050405020304" pitchFamily="18" charset="0"/>
              </a:rPr>
              <a:t>Kaggle.com.</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Database application, the data format is changed from .doc or .txt to a .CSV format.</a:t>
            </a:r>
            <a:endParaRPr lang="en-IN" sz="24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loading is used in database-based extraction and loading techniques.</a:t>
            </a:r>
            <a:endParaRPr lang="en-IN"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8E50573-BA60-5FCA-8068-071DAFA060D4}"/>
              </a:ext>
            </a:extLst>
          </p:cNvPr>
          <p:cNvSpPr txBox="1"/>
          <p:nvPr/>
        </p:nvSpPr>
        <p:spPr>
          <a:xfrm>
            <a:off x="1227221" y="473311"/>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sym typeface="Arial" panose="020B0604020202020204" pitchFamily="34" charset="0"/>
              </a:rPr>
              <a:t>MODULES DESCRIPTION</a:t>
            </a:r>
          </a:p>
        </p:txBody>
      </p:sp>
    </p:spTree>
    <p:extLst>
      <p:ext uri="{BB962C8B-B14F-4D97-AF65-F5344CB8AC3E}">
        <p14:creationId xmlns:p14="http://schemas.microsoft.com/office/powerpoint/2010/main" val="2437950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3E5B9-8728-0E1F-7B87-041EFBBA0932}"/>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8442F7D1-1B82-9F34-E287-9063C176AB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0D80BBB-5EDC-5559-875E-9C8FA563115D}"/>
              </a:ext>
            </a:extLst>
          </p:cNvPr>
          <p:cNvSpPr txBox="1"/>
          <p:nvPr/>
        </p:nvSpPr>
        <p:spPr>
          <a:xfrm>
            <a:off x="1227221" y="473311"/>
            <a:ext cx="8213558"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itchFamily="18" charset="0"/>
              </a:rPr>
              <a:t>DATA LOADING</a:t>
            </a:r>
            <a:endParaRPr lang="en-GB" sz="2800" b="1" dirty="0">
              <a:latin typeface="Times New Roman" panose="02020603050405020304" pitchFamily="18" charset="0"/>
              <a:cs typeface="Times New Roman" panose="02020603050405020304" pitchFamily="18" charset="0"/>
              <a:sym typeface="Arial" panose="020B0604020202020204" pitchFamily="34" charset="0"/>
            </a:endParaRPr>
          </a:p>
        </p:txBody>
      </p:sp>
      <p:pic>
        <p:nvPicPr>
          <p:cNvPr id="3" name="Picture 2">
            <a:extLst>
              <a:ext uri="{FF2B5EF4-FFF2-40B4-BE49-F238E27FC236}">
                <a16:creationId xmlns:a16="http://schemas.microsoft.com/office/drawing/2014/main" id="{A5045B53-F918-E083-C075-87FB9F86D996}"/>
              </a:ext>
            </a:extLst>
          </p:cNvPr>
          <p:cNvPicPr>
            <a:picLocks noChangeAspect="1"/>
          </p:cNvPicPr>
          <p:nvPr/>
        </p:nvPicPr>
        <p:blipFill>
          <a:blip r:embed="rId3" cstate="print">
            <a:extLst>
              <a:ext uri="{28A0092B-C50C-407E-A947-70E740481C1C}">
                <a14:useLocalDpi xmlns:a14="http://schemas.microsoft.com/office/drawing/2010/main" val="0"/>
              </a:ext>
            </a:extLst>
          </a:blip>
          <a:srcRect l="-1" r="473" b="5678"/>
          <a:stretch>
            <a:fillRect/>
          </a:stretch>
        </p:blipFill>
        <p:spPr>
          <a:xfrm>
            <a:off x="3810001" y="951724"/>
            <a:ext cx="4154806" cy="5906276"/>
          </a:xfrm>
          <a:prstGeom prst="rect">
            <a:avLst/>
          </a:prstGeom>
        </p:spPr>
      </p:pic>
    </p:spTree>
    <p:extLst>
      <p:ext uri="{BB962C8B-B14F-4D97-AF65-F5344CB8AC3E}">
        <p14:creationId xmlns:p14="http://schemas.microsoft.com/office/powerpoint/2010/main" val="1589366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A4453-D266-BCEE-B8A4-2D01B9F195EF}"/>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4313105C-1BBB-8742-4D6C-74D628C8F5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F33104E6-8BAF-AB48-770B-8C0FC83A938C}"/>
              </a:ext>
            </a:extLst>
          </p:cNvPr>
          <p:cNvSpPr txBox="1"/>
          <p:nvPr/>
        </p:nvSpPr>
        <p:spPr>
          <a:xfrm>
            <a:off x="1114926" y="1541009"/>
            <a:ext cx="9793705" cy="2819041"/>
          </a:xfrm>
          <a:prstGeom prst="rect">
            <a:avLst/>
          </a:prstGeom>
          <a:noFill/>
        </p:spPr>
        <p:txBody>
          <a:bodyPr wrap="square" rtlCol="0">
            <a:spAutoFit/>
          </a:bodyPr>
          <a:lstStyle/>
          <a:p>
            <a:pPr algn="just">
              <a:lnSpc>
                <a:spcPct val="150000"/>
              </a:lnSpc>
            </a:pPr>
            <a:r>
              <a:rPr lang="en-US" sz="2500" b="1" dirty="0">
                <a:latin typeface="Times New Roman" pitchFamily="18" charset="0"/>
                <a:cs typeface="Times New Roman" pitchFamily="18" charset="0"/>
              </a:rPr>
              <a:t>DATA  ACQUISITION</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data acquisition module is responsible for collecting click data from online advertising campaigns.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includes attributes such as IP addresses, device types, operating systems, timestamps, app identifiers, and user session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itchFamily="18" charset="0"/>
            </a:endParaRPr>
          </a:p>
        </p:txBody>
      </p:sp>
      <p:sp>
        <p:nvSpPr>
          <p:cNvPr id="6" name="TextBox 5">
            <a:extLst>
              <a:ext uri="{FF2B5EF4-FFF2-40B4-BE49-F238E27FC236}">
                <a16:creationId xmlns:a16="http://schemas.microsoft.com/office/drawing/2014/main" id="{3061882C-628A-8D08-AB16-46124A1BAF7D}"/>
              </a:ext>
            </a:extLst>
          </p:cNvPr>
          <p:cNvSpPr txBox="1"/>
          <p:nvPr/>
        </p:nvSpPr>
        <p:spPr>
          <a:xfrm>
            <a:off x="1227221" y="473311"/>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sym typeface="Arial" panose="020B0604020202020204" pitchFamily="34" charset="0"/>
              </a:rPr>
              <a:t>Continued...</a:t>
            </a:r>
          </a:p>
        </p:txBody>
      </p:sp>
    </p:spTree>
    <p:extLst>
      <p:ext uri="{BB962C8B-B14F-4D97-AF65-F5344CB8AC3E}">
        <p14:creationId xmlns:p14="http://schemas.microsoft.com/office/powerpoint/2010/main" val="1707096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F1E3B-6946-B9B8-DBA9-159D7487D9F5}"/>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34553F97-DD21-B581-4A21-8452FEB77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1A7BAF78-57AF-065C-8A53-F13625195767}"/>
              </a:ext>
            </a:extLst>
          </p:cNvPr>
          <p:cNvSpPr txBox="1"/>
          <p:nvPr/>
        </p:nvSpPr>
        <p:spPr>
          <a:xfrm>
            <a:off x="1227221" y="473311"/>
            <a:ext cx="8213558" cy="523220"/>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DATA  ACQUISITION</a:t>
            </a:r>
            <a:endParaRPr lang="en-GB" sz="2800" b="1" dirty="0">
              <a:latin typeface="Times New Roman" panose="02020603050405020304" pitchFamily="18" charset="0"/>
              <a:cs typeface="Times New Roman" panose="02020603050405020304" pitchFamily="18" charset="0"/>
              <a:sym typeface="Arial" panose="020B0604020202020204" pitchFamily="34" charset="0"/>
            </a:endParaRPr>
          </a:p>
        </p:txBody>
      </p:sp>
      <p:pic>
        <p:nvPicPr>
          <p:cNvPr id="6" name="Picture 5">
            <a:extLst>
              <a:ext uri="{FF2B5EF4-FFF2-40B4-BE49-F238E27FC236}">
                <a16:creationId xmlns:a16="http://schemas.microsoft.com/office/drawing/2014/main" id="{B83F4ECD-0EEB-01B4-81EE-D2F29D9E6E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92760" y="1005862"/>
            <a:ext cx="3850433" cy="5805485"/>
          </a:xfrm>
          <a:prstGeom prst="rect">
            <a:avLst/>
          </a:prstGeom>
        </p:spPr>
      </p:pic>
    </p:spTree>
    <p:extLst>
      <p:ext uri="{BB962C8B-B14F-4D97-AF65-F5344CB8AC3E}">
        <p14:creationId xmlns:p14="http://schemas.microsoft.com/office/powerpoint/2010/main" val="530200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AC09E-3F59-1F40-6864-306EBA1318FD}"/>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597CCCC5-4901-6FC0-222C-9EC4BDA747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8F1EC6F9-A460-4282-5DFB-CBC739915427}"/>
              </a:ext>
            </a:extLst>
          </p:cNvPr>
          <p:cNvSpPr txBox="1"/>
          <p:nvPr/>
        </p:nvSpPr>
        <p:spPr>
          <a:xfrm>
            <a:off x="1114926" y="1541009"/>
            <a:ext cx="9793705" cy="3373039"/>
          </a:xfrm>
          <a:prstGeom prst="rect">
            <a:avLst/>
          </a:prstGeom>
          <a:noFill/>
        </p:spPr>
        <p:txBody>
          <a:bodyPr wrap="square" rtlCol="0">
            <a:spAutoFit/>
          </a:bodyPr>
          <a:lstStyle/>
          <a:p>
            <a:pPr algn="just">
              <a:lnSpc>
                <a:spcPct val="150000"/>
              </a:lnSpc>
            </a:pPr>
            <a:r>
              <a:rPr lang="en-US" sz="2500" b="1" dirty="0">
                <a:latin typeface="Times New Roman" pitchFamily="18" charset="0"/>
                <a:cs typeface="Times New Roman" pitchFamily="18" charset="0"/>
              </a:rPr>
              <a:t>DATA PREPROCESSING</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Once the raw data is collected, the preprocessing module cleans and formats it for analysis.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Missing values are handled through imputation, and categorical features.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preprocessing encoded data into numeric formats suitable for machine learning algorithms.</a:t>
            </a:r>
            <a:endParaRPr lang="en-US" sz="2400" dirty="0">
              <a:latin typeface="Times New Roman" panose="02020603050405020304" pitchFamily="18" charset="0"/>
              <a:cs typeface="Times New Roman" pitchFamily="18" charset="0"/>
            </a:endParaRPr>
          </a:p>
        </p:txBody>
      </p:sp>
      <p:sp>
        <p:nvSpPr>
          <p:cNvPr id="2" name="TextBox 1">
            <a:extLst>
              <a:ext uri="{FF2B5EF4-FFF2-40B4-BE49-F238E27FC236}">
                <a16:creationId xmlns:a16="http://schemas.microsoft.com/office/drawing/2014/main" id="{97231B57-545A-0BE9-B507-705F5E083B3F}"/>
              </a:ext>
            </a:extLst>
          </p:cNvPr>
          <p:cNvSpPr txBox="1"/>
          <p:nvPr/>
        </p:nvSpPr>
        <p:spPr>
          <a:xfrm>
            <a:off x="1227221" y="473311"/>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sym typeface="Arial" panose="020B0604020202020204" pitchFamily="34" charset="0"/>
              </a:rPr>
              <a:t>Continued…</a:t>
            </a:r>
          </a:p>
        </p:txBody>
      </p:sp>
    </p:spTree>
    <p:extLst>
      <p:ext uri="{BB962C8B-B14F-4D97-AF65-F5344CB8AC3E}">
        <p14:creationId xmlns:p14="http://schemas.microsoft.com/office/powerpoint/2010/main" val="3703179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B7B22-A851-EAB2-2CD4-B21C01DDF9D6}"/>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D1FE00C8-37E7-8147-D708-E333E4F3A2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9712383-21DA-F129-26BB-3E60E44BAAEB}"/>
              </a:ext>
            </a:extLst>
          </p:cNvPr>
          <p:cNvSpPr txBox="1"/>
          <p:nvPr/>
        </p:nvSpPr>
        <p:spPr>
          <a:xfrm>
            <a:off x="1227221" y="473311"/>
            <a:ext cx="8213558" cy="523220"/>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DATA PREPROCESSING</a:t>
            </a:r>
            <a:endParaRPr lang="en-GB" sz="2800" b="1" dirty="0">
              <a:latin typeface="Times New Roman" panose="02020603050405020304" pitchFamily="18" charset="0"/>
              <a:cs typeface="Times New Roman" panose="02020603050405020304" pitchFamily="18" charset="0"/>
              <a:sym typeface="Arial" panose="020B0604020202020204" pitchFamily="34" charset="0"/>
            </a:endParaRPr>
          </a:p>
        </p:txBody>
      </p:sp>
      <p:pic>
        <p:nvPicPr>
          <p:cNvPr id="3" name="Picture 2">
            <a:extLst>
              <a:ext uri="{FF2B5EF4-FFF2-40B4-BE49-F238E27FC236}">
                <a16:creationId xmlns:a16="http://schemas.microsoft.com/office/drawing/2014/main" id="{E09427D4-3A18-2A66-57D3-68AE31B5A3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3295" y="996531"/>
            <a:ext cx="4278078" cy="5861469"/>
          </a:xfrm>
          <a:prstGeom prst="rect">
            <a:avLst/>
          </a:prstGeom>
        </p:spPr>
      </p:pic>
    </p:spTree>
    <p:extLst>
      <p:ext uri="{BB962C8B-B14F-4D97-AF65-F5344CB8AC3E}">
        <p14:creationId xmlns:p14="http://schemas.microsoft.com/office/powerpoint/2010/main" val="1947002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3CF98-45FD-0C9D-057E-23819CF25395}"/>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6EEE50B4-1DCC-0691-3A83-387983DAF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479522"/>
            <a:ext cx="1171575" cy="85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EAD54750-03F5-A805-C8D4-1C7428A00298}"/>
              </a:ext>
            </a:extLst>
          </p:cNvPr>
          <p:cNvSpPr txBox="1"/>
          <p:nvPr/>
        </p:nvSpPr>
        <p:spPr>
          <a:xfrm>
            <a:off x="1114926" y="1541009"/>
            <a:ext cx="9793705" cy="3442289"/>
          </a:xfrm>
          <a:prstGeom prst="rect">
            <a:avLst/>
          </a:prstGeom>
          <a:noFill/>
        </p:spPr>
        <p:txBody>
          <a:bodyPr wrap="square" rtlCol="0">
            <a:spAutoFit/>
          </a:bodyPr>
          <a:lstStyle/>
          <a:p>
            <a:pPr algn="just">
              <a:lnSpc>
                <a:spcPct val="150000"/>
              </a:lnSpc>
            </a:pPr>
            <a:r>
              <a:rPr lang="en-US" sz="2500" b="1" dirty="0">
                <a:latin typeface="Times New Roman" pitchFamily="18" charset="0"/>
                <a:cs typeface="Times New Roman" pitchFamily="18" charset="0"/>
              </a:rPr>
              <a:t>DATA CLEANING</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 this data cleaning module the data is cleaned.</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After cleaning of the data, the data is grouped as per requirement.</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grouping of data is known as data clustering.</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Then check if there is any missing value in the data set or not.</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there is some missing value then change it by any default value.</a:t>
            </a:r>
            <a:endParaRPr lang="en-US" sz="2400" dirty="0">
              <a:latin typeface="Times New Roman" panose="02020603050405020304" pitchFamily="18" charset="0"/>
              <a:cs typeface="Times New Roman" pitchFamily="18" charset="0"/>
            </a:endParaRPr>
          </a:p>
        </p:txBody>
      </p:sp>
      <p:sp>
        <p:nvSpPr>
          <p:cNvPr id="2" name="TextBox 1">
            <a:extLst>
              <a:ext uri="{FF2B5EF4-FFF2-40B4-BE49-F238E27FC236}">
                <a16:creationId xmlns:a16="http://schemas.microsoft.com/office/drawing/2014/main" id="{6BFB0D23-59F8-DBE7-E828-DA4C4354646F}"/>
              </a:ext>
            </a:extLst>
          </p:cNvPr>
          <p:cNvSpPr txBox="1"/>
          <p:nvPr/>
        </p:nvSpPr>
        <p:spPr>
          <a:xfrm>
            <a:off x="1236552" y="473311"/>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sym typeface="Arial" panose="020B0604020202020204" pitchFamily="34" charset="0"/>
              </a:rPr>
              <a:t>Continued…</a:t>
            </a:r>
          </a:p>
        </p:txBody>
      </p:sp>
    </p:spTree>
    <p:extLst>
      <p:ext uri="{BB962C8B-B14F-4D97-AF65-F5344CB8AC3E}">
        <p14:creationId xmlns:p14="http://schemas.microsoft.com/office/powerpoint/2010/main" val="1953956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BBA96-075F-DDD5-86B4-C749D28149A4}"/>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5137768B-DCF9-81E6-51D9-B171F46913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214BD24-FA6B-57E1-8F88-D860167FBF41}"/>
              </a:ext>
            </a:extLst>
          </p:cNvPr>
          <p:cNvSpPr txBox="1"/>
          <p:nvPr/>
        </p:nvSpPr>
        <p:spPr>
          <a:xfrm>
            <a:off x="1227221" y="473311"/>
            <a:ext cx="8213558" cy="523220"/>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DATA CLEANING</a:t>
            </a:r>
            <a:endParaRPr lang="en-GB" sz="2800" b="1" dirty="0">
              <a:latin typeface="Times New Roman" panose="02020603050405020304" pitchFamily="18" charset="0"/>
              <a:cs typeface="Times New Roman" panose="02020603050405020304" pitchFamily="18" charset="0"/>
              <a:sym typeface="Arial" panose="020B0604020202020204" pitchFamily="34" charset="0"/>
            </a:endParaRPr>
          </a:p>
        </p:txBody>
      </p:sp>
      <p:pic>
        <p:nvPicPr>
          <p:cNvPr id="6" name="Picture 5">
            <a:extLst>
              <a:ext uri="{FF2B5EF4-FFF2-40B4-BE49-F238E27FC236}">
                <a16:creationId xmlns:a16="http://schemas.microsoft.com/office/drawing/2014/main" id="{C19A984E-F771-6E35-C325-40E96DDFC789}"/>
              </a:ext>
            </a:extLst>
          </p:cNvPr>
          <p:cNvPicPr>
            <a:picLocks noChangeAspect="1"/>
          </p:cNvPicPr>
          <p:nvPr/>
        </p:nvPicPr>
        <p:blipFill>
          <a:blip r:embed="rId3">
            <a:extLst>
              <a:ext uri="{28A0092B-C50C-407E-A947-70E740481C1C}">
                <a14:useLocalDpi xmlns:a14="http://schemas.microsoft.com/office/drawing/2010/main" val="0"/>
              </a:ext>
            </a:extLst>
          </a:blip>
          <a:srcRect r="648" b="7994"/>
          <a:stretch>
            <a:fillRect/>
          </a:stretch>
        </p:blipFill>
        <p:spPr>
          <a:xfrm>
            <a:off x="3596858" y="936826"/>
            <a:ext cx="4660008" cy="5921174"/>
          </a:xfrm>
          <a:prstGeom prst="rect">
            <a:avLst/>
          </a:prstGeom>
        </p:spPr>
      </p:pic>
    </p:spTree>
    <p:extLst>
      <p:ext uri="{BB962C8B-B14F-4D97-AF65-F5344CB8AC3E}">
        <p14:creationId xmlns:p14="http://schemas.microsoft.com/office/powerpoint/2010/main" val="1456832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BBBDB-BE58-A3F0-5630-9667137B825D}"/>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4DBD9F51-E903-A851-F95E-62397717A9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E80604CA-39E1-6783-0F24-AC5FBE96DE45}"/>
              </a:ext>
            </a:extLst>
          </p:cNvPr>
          <p:cNvSpPr txBox="1"/>
          <p:nvPr/>
        </p:nvSpPr>
        <p:spPr>
          <a:xfrm>
            <a:off x="1114926" y="1541009"/>
            <a:ext cx="9793705" cy="3373039"/>
          </a:xfrm>
          <a:prstGeom prst="rect">
            <a:avLst/>
          </a:prstGeom>
          <a:noFill/>
        </p:spPr>
        <p:txBody>
          <a:bodyPr wrap="square" rtlCol="0">
            <a:spAutoFit/>
          </a:bodyPr>
          <a:lstStyle/>
          <a:p>
            <a:pPr algn="just">
              <a:lnSpc>
                <a:spcPct val="150000"/>
              </a:lnSpc>
            </a:pPr>
            <a:r>
              <a:rPr lang="en-US" sz="2500" b="1" dirty="0">
                <a:latin typeface="Times New Roman" pitchFamily="18" charset="0"/>
                <a:cs typeface="Times New Roman" pitchFamily="18" charset="0"/>
              </a:rPr>
              <a:t>MODEL TRAINING</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We split the entire dataset into 70% training set and 30% test set.</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We used the training set for resampling, hyper parameter tuning, and training the model.</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While splitting the data, we specified a random seed (any random number). </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ensured the same data split every time the program executed.</a:t>
            </a:r>
          </a:p>
        </p:txBody>
      </p:sp>
      <p:sp>
        <p:nvSpPr>
          <p:cNvPr id="2" name="TextBox 1">
            <a:extLst>
              <a:ext uri="{FF2B5EF4-FFF2-40B4-BE49-F238E27FC236}">
                <a16:creationId xmlns:a16="http://schemas.microsoft.com/office/drawing/2014/main" id="{EEF3D501-A95F-E3EF-0057-50F371FA2241}"/>
              </a:ext>
            </a:extLst>
          </p:cNvPr>
          <p:cNvSpPr txBox="1"/>
          <p:nvPr/>
        </p:nvSpPr>
        <p:spPr>
          <a:xfrm>
            <a:off x="1236552" y="473311"/>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sym typeface="Arial" panose="020B0604020202020204" pitchFamily="34" charset="0"/>
              </a:rPr>
              <a:t>Continued…</a:t>
            </a:r>
          </a:p>
        </p:txBody>
      </p:sp>
    </p:spTree>
    <p:extLst>
      <p:ext uri="{BB962C8B-B14F-4D97-AF65-F5344CB8AC3E}">
        <p14:creationId xmlns:p14="http://schemas.microsoft.com/office/powerpoint/2010/main" val="3932251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4A1E4-9092-5655-1A45-B7888CD11947}"/>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1959C342-9501-75D9-450B-3E6999111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6D656E7-4DED-84F7-1974-56503AC6B98A}"/>
              </a:ext>
            </a:extLst>
          </p:cNvPr>
          <p:cNvSpPr txBox="1"/>
          <p:nvPr/>
        </p:nvSpPr>
        <p:spPr>
          <a:xfrm>
            <a:off x="1227221" y="473311"/>
            <a:ext cx="8213558" cy="523220"/>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MODEL TRAINING</a:t>
            </a:r>
            <a:endParaRPr lang="en-GB" sz="2800" b="1" dirty="0">
              <a:latin typeface="Times New Roman" panose="02020603050405020304" pitchFamily="18" charset="0"/>
              <a:cs typeface="Times New Roman" panose="02020603050405020304" pitchFamily="18" charset="0"/>
              <a:sym typeface="Arial" panose="020B0604020202020204" pitchFamily="34" charset="0"/>
            </a:endParaRPr>
          </a:p>
        </p:txBody>
      </p:sp>
      <p:pic>
        <p:nvPicPr>
          <p:cNvPr id="3" name="Picture 2">
            <a:extLst>
              <a:ext uri="{FF2B5EF4-FFF2-40B4-BE49-F238E27FC236}">
                <a16:creationId xmlns:a16="http://schemas.microsoft.com/office/drawing/2014/main" id="{E8B5C138-DDFC-5DA9-4C0C-568EC43B20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3289" y="913986"/>
            <a:ext cx="4667692" cy="5944014"/>
          </a:xfrm>
          <a:prstGeom prst="rect">
            <a:avLst/>
          </a:prstGeom>
        </p:spPr>
      </p:pic>
    </p:spTree>
    <p:extLst>
      <p:ext uri="{BB962C8B-B14F-4D97-AF65-F5344CB8AC3E}">
        <p14:creationId xmlns:p14="http://schemas.microsoft.com/office/powerpoint/2010/main" val="4233422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42DB8-E55A-AC6C-1826-6C0FB95E8E15}"/>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317F53FE-6DE5-0314-552E-A36CA2CF7F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87DA13FA-A4BB-6F8C-057D-4939568456B9}"/>
              </a:ext>
            </a:extLst>
          </p:cNvPr>
          <p:cNvSpPr txBox="1"/>
          <p:nvPr/>
        </p:nvSpPr>
        <p:spPr>
          <a:xfrm>
            <a:off x="1114926" y="1541009"/>
            <a:ext cx="9793705" cy="3927037"/>
          </a:xfrm>
          <a:prstGeom prst="rect">
            <a:avLst/>
          </a:prstGeom>
          <a:noFill/>
        </p:spPr>
        <p:txBody>
          <a:bodyPr wrap="square" rtlCol="0">
            <a:spAutoFit/>
          </a:bodyPr>
          <a:lstStyle/>
          <a:p>
            <a:pPr algn="just">
              <a:lnSpc>
                <a:spcPct val="150000"/>
              </a:lnSpc>
            </a:pPr>
            <a:r>
              <a:rPr lang="en-IN" sz="2500" b="1" dirty="0">
                <a:latin typeface="Times New Roman" panose="02020603050405020304" pitchFamily="18" charset="0"/>
                <a:cs typeface="Times New Roman" panose="02020603050405020304" pitchFamily="18" charset="0"/>
              </a:rPr>
              <a:t>DATA SPLITTING</a:t>
            </a:r>
            <a:endParaRPr lang="en-US" sz="2500" b="1" dirty="0">
              <a:latin typeface="Times New Roman" panose="02020603050405020304" pitchFamily="18" charset="0"/>
              <a:cs typeface="Times New Roman" pitchFamily="18" charset="0"/>
            </a:endParaRP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Training set : </a:t>
            </a:r>
            <a:r>
              <a:rPr lang="en-IN" sz="2400" dirty="0">
                <a:latin typeface="Times New Roman" panose="02020603050405020304" pitchFamily="18" charset="0"/>
                <a:cs typeface="Times New Roman" panose="02020603050405020304" pitchFamily="18" charset="0"/>
              </a:rPr>
              <a:t>A data scientist uses a training set to train a model and define its optimal parameters — parameters it has to learn from data.</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have 70 % data sets and 8 features.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Test set :</a:t>
            </a:r>
            <a:r>
              <a:rPr lang="en-IN" sz="2400" dirty="0">
                <a:latin typeface="Times New Roman" panose="02020603050405020304" pitchFamily="18" charset="0"/>
                <a:cs typeface="Times New Roman" panose="02020603050405020304" pitchFamily="18" charset="0"/>
              </a:rPr>
              <a:t> A test set is needed for an evaluation of the trained model and its capability for generalization.</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have 30 % data sets and 7 features.</a:t>
            </a:r>
          </a:p>
        </p:txBody>
      </p:sp>
      <p:sp>
        <p:nvSpPr>
          <p:cNvPr id="2" name="TextBox 1">
            <a:extLst>
              <a:ext uri="{FF2B5EF4-FFF2-40B4-BE49-F238E27FC236}">
                <a16:creationId xmlns:a16="http://schemas.microsoft.com/office/drawing/2014/main" id="{A0227EE7-D312-2E7E-FAC8-51285E11C20B}"/>
              </a:ext>
            </a:extLst>
          </p:cNvPr>
          <p:cNvSpPr txBox="1"/>
          <p:nvPr/>
        </p:nvSpPr>
        <p:spPr>
          <a:xfrm>
            <a:off x="1236552" y="473311"/>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sym typeface="Arial" panose="020B0604020202020204" pitchFamily="34" charset="0"/>
              </a:rPr>
              <a:t>Continued…</a:t>
            </a:r>
          </a:p>
        </p:txBody>
      </p:sp>
    </p:spTree>
    <p:extLst>
      <p:ext uri="{BB962C8B-B14F-4D97-AF65-F5344CB8AC3E}">
        <p14:creationId xmlns:p14="http://schemas.microsoft.com/office/powerpoint/2010/main" val="693737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C3E2C-5271-2D92-D5BC-DA6F53280A2E}"/>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020370B6-00EA-F8AB-1FCE-9C39146DAD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908631B-FCE2-0897-40FF-3B2DC74476E1}"/>
              </a:ext>
            </a:extLst>
          </p:cNvPr>
          <p:cNvSpPr txBox="1"/>
          <p:nvPr/>
        </p:nvSpPr>
        <p:spPr>
          <a:xfrm>
            <a:off x="1227221" y="473311"/>
            <a:ext cx="8213558" cy="661207"/>
          </a:xfrm>
          <a:prstGeom prst="rect">
            <a:avLst/>
          </a:prstGeom>
          <a:noFill/>
        </p:spPr>
        <p:txBody>
          <a:bodyPr wrap="square" rtlCol="0">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DATA SPLITTING</a:t>
            </a:r>
            <a:endParaRPr lang="en-US" sz="2800" b="1" dirty="0">
              <a:latin typeface="Times New Roman" panose="02020603050405020304" pitchFamily="18" charset="0"/>
              <a:cs typeface="Times New Roman" pitchFamily="18" charset="0"/>
            </a:endParaRPr>
          </a:p>
        </p:txBody>
      </p:sp>
      <p:pic>
        <p:nvPicPr>
          <p:cNvPr id="9" name="Picture 8">
            <a:extLst>
              <a:ext uri="{FF2B5EF4-FFF2-40B4-BE49-F238E27FC236}">
                <a16:creationId xmlns:a16="http://schemas.microsoft.com/office/drawing/2014/main" id="{48F32E89-CC16-4932-9B1F-781FDA7ABE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4055" y="1053278"/>
            <a:ext cx="5623496" cy="5804722"/>
          </a:xfrm>
          <a:prstGeom prst="rect">
            <a:avLst/>
          </a:prstGeom>
        </p:spPr>
      </p:pic>
    </p:spTree>
    <p:extLst>
      <p:ext uri="{BB962C8B-B14F-4D97-AF65-F5344CB8AC3E}">
        <p14:creationId xmlns:p14="http://schemas.microsoft.com/office/powerpoint/2010/main" val="1232720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95A4D-CCC7-25E8-0231-78D171F35F80}"/>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A58D5692-924C-3526-B8C4-54E764C47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E9D6D61C-CA85-4B1B-347A-7D11292D0CB6}"/>
              </a:ext>
            </a:extLst>
          </p:cNvPr>
          <p:cNvSpPr txBox="1"/>
          <p:nvPr/>
        </p:nvSpPr>
        <p:spPr>
          <a:xfrm>
            <a:off x="1227221" y="473311"/>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sym typeface="Arial" panose="020B0604020202020204" pitchFamily="34" charset="0"/>
              </a:rPr>
              <a:t>MODULES ALGORITHM</a:t>
            </a:r>
          </a:p>
        </p:txBody>
      </p:sp>
      <p:sp>
        <p:nvSpPr>
          <p:cNvPr id="3" name="TextBox 2">
            <a:extLst>
              <a:ext uri="{FF2B5EF4-FFF2-40B4-BE49-F238E27FC236}">
                <a16:creationId xmlns:a16="http://schemas.microsoft.com/office/drawing/2014/main" id="{305EF600-7320-5B74-58A1-59613FAD8953}"/>
              </a:ext>
            </a:extLst>
          </p:cNvPr>
          <p:cNvSpPr txBox="1"/>
          <p:nvPr/>
        </p:nvSpPr>
        <p:spPr>
          <a:xfrm>
            <a:off x="1114926" y="1930297"/>
            <a:ext cx="9793705" cy="334995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Random Forest</a:t>
            </a:r>
            <a:r>
              <a:rPr lang="en-IN" sz="2400" dirty="0">
                <a:latin typeface="Times New Roman" panose="02020603050405020304" pitchFamily="18" charset="0"/>
                <a:cs typeface="Times New Roman" panose="02020603050405020304" pitchFamily="18" charset="0"/>
              </a:rPr>
              <a:t> is an ensemble learning algorithm that constructs multiple decision trees during training and combines their outputs to produce a final prediction.</a:t>
            </a:r>
          </a:p>
          <a:p>
            <a:pPr marL="342900" indent="-342900" algn="just">
              <a:lnSpc>
                <a:spcPct val="150000"/>
              </a:lnSpc>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XGBoost</a:t>
            </a:r>
            <a:r>
              <a:rPr lang="en-IN" sz="2400" b="1" dirty="0">
                <a:latin typeface="Times New Roman" panose="02020603050405020304" pitchFamily="18" charset="0"/>
                <a:cs typeface="Times New Roman" panose="02020603050405020304" pitchFamily="18" charset="0"/>
              </a:rPr>
              <a:t> (Extreme Gradient Boosting)</a:t>
            </a:r>
            <a:r>
              <a:rPr lang="en-IN" sz="2400" dirty="0">
                <a:latin typeface="Times New Roman" panose="02020603050405020304" pitchFamily="18" charset="0"/>
                <a:cs typeface="Times New Roman" panose="02020603050405020304" pitchFamily="18" charset="0"/>
              </a:rPr>
              <a:t> is a powerful boosting-based algorithm that builds decision trees sequentially, where each new tree focuses on correcting the errors made by previous ones. </a:t>
            </a:r>
          </a:p>
        </p:txBody>
      </p:sp>
    </p:spTree>
    <p:extLst>
      <p:ext uri="{BB962C8B-B14F-4D97-AF65-F5344CB8AC3E}">
        <p14:creationId xmlns:p14="http://schemas.microsoft.com/office/powerpoint/2010/main" val="3323189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AA9E1-BDE2-FFAB-6CFD-9C26BB1A2446}"/>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7113E2A2-9071-19A4-23A3-077B20619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two tree random forest">
            <a:extLst>
              <a:ext uri="{FF2B5EF4-FFF2-40B4-BE49-F238E27FC236}">
                <a16:creationId xmlns:a16="http://schemas.microsoft.com/office/drawing/2014/main" id="{E99C7C41-5819-CAC4-F020-D17D72A36CDC}"/>
              </a:ext>
            </a:extLst>
          </p:cNvPr>
          <p:cNvPicPr>
            <a:picLocks noChangeAspect="1"/>
          </p:cNvPicPr>
          <p:nvPr/>
        </p:nvPicPr>
        <p:blipFill rotWithShape="1">
          <a:blip r:embed="rId3">
            <a:extLst>
              <a:ext uri="{28A0092B-C50C-407E-A947-70E740481C1C}">
                <a14:useLocalDpi xmlns:a14="http://schemas.microsoft.com/office/drawing/2010/main" val="0"/>
              </a:ext>
            </a:extLst>
          </a:blip>
          <a:srcRect l="7393" t="10224" r="10149" b="13717"/>
          <a:stretch/>
        </p:blipFill>
        <p:spPr bwMode="auto">
          <a:xfrm>
            <a:off x="1614114" y="2090988"/>
            <a:ext cx="8150087" cy="426210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73B50EB3-4073-B219-5559-C31ACFF889C6}"/>
              </a:ext>
            </a:extLst>
          </p:cNvPr>
          <p:cNvSpPr txBox="1"/>
          <p:nvPr/>
        </p:nvSpPr>
        <p:spPr>
          <a:xfrm>
            <a:off x="2242269" y="1733282"/>
            <a:ext cx="2552368" cy="400110"/>
          </a:xfrm>
          <a:prstGeom prst="rect">
            <a:avLst/>
          </a:prstGeom>
          <a:noFill/>
        </p:spPr>
        <p:txBody>
          <a:bodyPr wrap="square" rtlCol="0">
            <a:spAutoFit/>
          </a:bodyPr>
          <a:lstStyle/>
          <a:p>
            <a:pPr algn="ctr"/>
            <a:r>
              <a:rPr lang="en-US" sz="2000" dirty="0">
                <a:latin typeface="Times New Roman" pitchFamily="18" charset="0"/>
                <a:cs typeface="Times New Roman" pitchFamily="18" charset="0"/>
              </a:rPr>
              <a:t>Random Forest</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590802D-4461-C2FE-5AC2-AE59C3BA6795}"/>
              </a:ext>
            </a:extLst>
          </p:cNvPr>
          <p:cNvSpPr txBox="1"/>
          <p:nvPr/>
        </p:nvSpPr>
        <p:spPr>
          <a:xfrm>
            <a:off x="6537295" y="1687005"/>
            <a:ext cx="2552368" cy="400110"/>
          </a:xfrm>
          <a:prstGeom prst="rect">
            <a:avLst/>
          </a:prstGeom>
          <a:noFill/>
        </p:spPr>
        <p:txBody>
          <a:bodyPr wrap="square" rtlCol="0">
            <a:spAutoFit/>
          </a:bodyPr>
          <a:lstStyle/>
          <a:p>
            <a:pPr algn="ctr"/>
            <a:r>
              <a:rPr lang="en-IN" sz="2000" dirty="0" err="1">
                <a:latin typeface="Times New Roman" panose="02020603050405020304" pitchFamily="18" charset="0"/>
                <a:cs typeface="Times New Roman" panose="02020603050405020304" pitchFamily="18" charset="0"/>
              </a:rPr>
              <a:t>XGBoost</a:t>
            </a: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614D00B-2293-EC2D-A505-0F164A9F882F}"/>
              </a:ext>
            </a:extLst>
          </p:cNvPr>
          <p:cNvSpPr txBox="1"/>
          <p:nvPr/>
        </p:nvSpPr>
        <p:spPr>
          <a:xfrm>
            <a:off x="1227221" y="473311"/>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sym typeface="Arial" panose="020B0604020202020204" pitchFamily="34" charset="0"/>
              </a:rPr>
              <a:t>SYSTEM </a:t>
            </a:r>
            <a:r>
              <a:rPr lang="en-US" sz="2800" b="1" dirty="0">
                <a:latin typeface="Times New Roman" pitchFamily="18" charset="0"/>
                <a:cs typeface="Times New Roman" pitchFamily="18" charset="0"/>
                <a:sym typeface="Arial" panose="020B0604020202020204" pitchFamily="34" charset="0"/>
              </a:rPr>
              <a:t>MODULES</a:t>
            </a:r>
            <a:r>
              <a:rPr lang="en-GB" sz="2800" b="1" dirty="0">
                <a:latin typeface="Times New Roman" panose="02020603050405020304" pitchFamily="18" charset="0"/>
                <a:cs typeface="Times New Roman" panose="02020603050405020304" pitchFamily="18" charset="0"/>
                <a:sym typeface="Arial" panose="020B0604020202020204" pitchFamily="34" charset="0"/>
              </a:rPr>
              <a:t> TREE</a:t>
            </a:r>
          </a:p>
        </p:txBody>
      </p:sp>
      <p:sp>
        <p:nvSpPr>
          <p:cNvPr id="9" name="TextBox 8">
            <a:extLst>
              <a:ext uri="{FF2B5EF4-FFF2-40B4-BE49-F238E27FC236}">
                <a16:creationId xmlns:a16="http://schemas.microsoft.com/office/drawing/2014/main" id="{3F15DC90-1401-5971-06A0-001F6BBB72A6}"/>
              </a:ext>
            </a:extLst>
          </p:cNvPr>
          <p:cNvSpPr txBox="1"/>
          <p:nvPr/>
        </p:nvSpPr>
        <p:spPr>
          <a:xfrm>
            <a:off x="4794637" y="6170219"/>
            <a:ext cx="1917587" cy="400110"/>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Output</a:t>
            </a:r>
          </a:p>
        </p:txBody>
      </p:sp>
    </p:spTree>
    <p:extLst>
      <p:ext uri="{BB962C8B-B14F-4D97-AF65-F5344CB8AC3E}">
        <p14:creationId xmlns:p14="http://schemas.microsoft.com/office/powerpoint/2010/main" val="395608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506A4-4AD7-899D-0301-82B3D20ACC0C}"/>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40D066A3-9AF7-F2B1-95CE-5C3F99AD45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D9B1F469-20BB-1AC3-8A7D-AB22D43FEA4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2247" y="1331995"/>
            <a:ext cx="9252683" cy="5274077"/>
          </a:xfrm>
          <a:prstGeom prst="rect">
            <a:avLst/>
          </a:prstGeom>
          <a:noFill/>
          <a:ln>
            <a:noFill/>
          </a:ln>
        </p:spPr>
      </p:pic>
      <p:sp>
        <p:nvSpPr>
          <p:cNvPr id="5" name="TextBox 4">
            <a:extLst>
              <a:ext uri="{FF2B5EF4-FFF2-40B4-BE49-F238E27FC236}">
                <a16:creationId xmlns:a16="http://schemas.microsoft.com/office/drawing/2014/main" id="{88794DAE-471D-F251-78BD-B3196A4989CD}"/>
              </a:ext>
            </a:extLst>
          </p:cNvPr>
          <p:cNvSpPr txBox="1"/>
          <p:nvPr/>
        </p:nvSpPr>
        <p:spPr>
          <a:xfrm>
            <a:off x="1227221" y="473311"/>
            <a:ext cx="8213558"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Work Flow Diagram</a:t>
            </a:r>
            <a:endParaRPr lang="en-GB" sz="2800" b="1" dirty="0">
              <a:latin typeface="Times New Roman" panose="02020603050405020304" pitchFamily="18" charset="0"/>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513268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1EF9-290B-62AC-47EF-29A3C51EB5EE}"/>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C19DAB28-C496-E332-BC60-A5AE6CA0D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94710AFA-ABAF-7705-F64E-88FE3007ACDA}"/>
              </a:ext>
            </a:extLst>
          </p:cNvPr>
          <p:cNvSpPr txBox="1"/>
          <p:nvPr/>
        </p:nvSpPr>
        <p:spPr>
          <a:xfrm>
            <a:off x="1227221" y="473311"/>
            <a:ext cx="8213558"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PERFORMANCE MATRICES</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8371831-82C5-C11D-62DC-A0048CDCD180}"/>
              </a:ext>
            </a:extLst>
          </p:cNvPr>
          <p:cNvSpPr txBox="1"/>
          <p:nvPr/>
        </p:nvSpPr>
        <p:spPr>
          <a:xfrm>
            <a:off x="1114926" y="1930297"/>
            <a:ext cx="9793705" cy="104721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Data was divided into two portions, training data and testing data, both these portions consisting 70% and 30% data.</a:t>
            </a:r>
          </a:p>
        </p:txBody>
      </p:sp>
      <p:graphicFrame>
        <p:nvGraphicFramePr>
          <p:cNvPr id="12" name="Table 11">
            <a:extLst>
              <a:ext uri="{FF2B5EF4-FFF2-40B4-BE49-F238E27FC236}">
                <a16:creationId xmlns:a16="http://schemas.microsoft.com/office/drawing/2014/main" id="{E52B0B01-D36B-CA42-D9DC-B54AF76467F2}"/>
              </a:ext>
            </a:extLst>
          </p:cNvPr>
          <p:cNvGraphicFramePr>
            <a:graphicFrameLocks noGrp="1"/>
          </p:cNvGraphicFramePr>
          <p:nvPr>
            <p:extLst>
              <p:ext uri="{D42A27DB-BD31-4B8C-83A1-F6EECF244321}">
                <p14:modId xmlns:p14="http://schemas.microsoft.com/office/powerpoint/2010/main" val="1376791909"/>
              </p:ext>
            </p:extLst>
          </p:nvPr>
        </p:nvGraphicFramePr>
        <p:xfrm>
          <a:off x="3161004" y="3472733"/>
          <a:ext cx="5460482" cy="698049"/>
        </p:xfrm>
        <a:graphic>
          <a:graphicData uri="http://schemas.openxmlformats.org/drawingml/2006/table">
            <a:tbl>
              <a:tblPr firstRow="1" bandRow="1">
                <a:tableStyleId>{5940675A-B579-460E-94D1-54222C63F5DA}</a:tableStyleId>
              </a:tblPr>
              <a:tblGrid>
                <a:gridCol w="5460482">
                  <a:extLst>
                    <a:ext uri="{9D8B030D-6E8A-4147-A177-3AD203B41FA5}">
                      <a16:colId xmlns:a16="http://schemas.microsoft.com/office/drawing/2014/main" val="101143417"/>
                    </a:ext>
                  </a:extLst>
                </a:gridCol>
              </a:tblGrid>
              <a:tr h="698049">
                <a:tc>
                  <a:txBody>
                    <a:bodyPr/>
                    <a:lstStyle/>
                    <a:p>
                      <a:pPr algn="ctr">
                        <a:lnSpc>
                          <a:spcPct val="150000"/>
                        </a:lnSpc>
                      </a:pPr>
                      <a:r>
                        <a:rPr lang="en-IN" sz="2400" b="1" dirty="0">
                          <a:latin typeface="Times New Roman" panose="02020603050405020304" pitchFamily="18" charset="0"/>
                          <a:cs typeface="Times New Roman" panose="02020603050405020304" pitchFamily="18" charset="0"/>
                        </a:rPr>
                        <a:t>Accuracy = ( TP + TN ) / ( P + N )</a:t>
                      </a:r>
                    </a:p>
                  </a:txBody>
                  <a:tcPr/>
                </a:tc>
                <a:extLst>
                  <a:ext uri="{0D108BD9-81ED-4DB2-BD59-A6C34878D82A}">
                    <a16:rowId xmlns:a16="http://schemas.microsoft.com/office/drawing/2014/main" val="2758515588"/>
                  </a:ext>
                </a:extLst>
              </a:tr>
            </a:tbl>
          </a:graphicData>
        </a:graphic>
      </p:graphicFrame>
    </p:spTree>
    <p:extLst>
      <p:ext uri="{BB962C8B-B14F-4D97-AF65-F5344CB8AC3E}">
        <p14:creationId xmlns:p14="http://schemas.microsoft.com/office/powerpoint/2010/main" val="345144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52EA9-8385-66B7-956A-9315FAB960AE}"/>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6488A16F-07CB-408B-360C-430B524B8E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34F3D0B-B607-F6D0-F078-5D906BFF0820}"/>
              </a:ext>
            </a:extLst>
          </p:cNvPr>
          <p:cNvSpPr txBox="1"/>
          <p:nvPr/>
        </p:nvSpPr>
        <p:spPr>
          <a:xfrm>
            <a:off x="1227221" y="473311"/>
            <a:ext cx="8213558"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CONFUSION MATRIX</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59073D5-EA1F-2FD7-570B-F3363EA61B13}"/>
              </a:ext>
            </a:extLst>
          </p:cNvPr>
          <p:cNvSpPr txBox="1"/>
          <p:nvPr/>
        </p:nvSpPr>
        <p:spPr>
          <a:xfrm>
            <a:off x="1114926" y="1566408"/>
            <a:ext cx="9793705" cy="1133965"/>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is a evaluation metrics in predictive analysis.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is an </a:t>
            </a:r>
            <a:r>
              <a:rPr lang="en-IN" sz="2400" dirty="0" err="1">
                <a:latin typeface="Times New Roman" panose="02020603050405020304" pitchFamily="18" charset="0"/>
                <a:cs typeface="Times New Roman" panose="02020603050405020304" pitchFamily="18" charset="0"/>
              </a:rPr>
              <a:t>NxN</a:t>
            </a:r>
            <a:r>
              <a:rPr lang="en-IN" sz="2400" dirty="0">
                <a:latin typeface="Times New Roman" panose="02020603050405020304" pitchFamily="18" charset="0"/>
                <a:cs typeface="Times New Roman" panose="02020603050405020304" pitchFamily="18" charset="0"/>
              </a:rPr>
              <a:t> matrix that describes the model.</a:t>
            </a:r>
            <a:endParaRPr lang="en-IN" sz="2400"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A7CA924D-A9D2-604E-417E-410421CC8C07}"/>
              </a:ext>
            </a:extLst>
          </p:cNvPr>
          <p:cNvGraphicFramePr>
            <a:graphicFrameLocks noGrp="1"/>
          </p:cNvGraphicFramePr>
          <p:nvPr>
            <p:extLst>
              <p:ext uri="{D42A27DB-BD31-4B8C-83A1-F6EECF244321}">
                <p14:modId xmlns:p14="http://schemas.microsoft.com/office/powerpoint/2010/main" val="2508829820"/>
              </p:ext>
            </p:extLst>
          </p:nvPr>
        </p:nvGraphicFramePr>
        <p:xfrm>
          <a:off x="3219060" y="3182947"/>
          <a:ext cx="6940940" cy="2294122"/>
        </p:xfrm>
        <a:graphic>
          <a:graphicData uri="http://schemas.openxmlformats.org/drawingml/2006/table">
            <a:tbl>
              <a:tblPr firstRow="1" bandRow="1">
                <a:tableStyleId>{5940675A-B579-460E-94D1-54222C63F5DA}</a:tableStyleId>
              </a:tblPr>
              <a:tblGrid>
                <a:gridCol w="3470470">
                  <a:extLst>
                    <a:ext uri="{9D8B030D-6E8A-4147-A177-3AD203B41FA5}">
                      <a16:colId xmlns:a16="http://schemas.microsoft.com/office/drawing/2014/main" val="1128174697"/>
                    </a:ext>
                  </a:extLst>
                </a:gridCol>
                <a:gridCol w="3470470">
                  <a:extLst>
                    <a:ext uri="{9D8B030D-6E8A-4147-A177-3AD203B41FA5}">
                      <a16:colId xmlns:a16="http://schemas.microsoft.com/office/drawing/2014/main" val="2158353303"/>
                    </a:ext>
                  </a:extLst>
                </a:gridCol>
              </a:tblGrid>
              <a:tr h="1147061">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True Negative</a:t>
                      </a:r>
                    </a:p>
                    <a:p>
                      <a:pPr algn="ctr"/>
                      <a:r>
                        <a:rPr lang="en-IN" dirty="0">
                          <a:latin typeface="Times New Roman" panose="02020603050405020304" pitchFamily="18" charset="0"/>
                          <a:cs typeface="Times New Roman" panose="02020603050405020304" pitchFamily="18" charset="0"/>
                        </a:rPr>
                        <a:t>( TN )</a:t>
                      </a:r>
                    </a:p>
                  </a:txBody>
                  <a:tcPr/>
                </a:tc>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False Positive</a:t>
                      </a:r>
                    </a:p>
                    <a:p>
                      <a:pPr algn="ctr"/>
                      <a:r>
                        <a:rPr lang="en-IN" dirty="0">
                          <a:latin typeface="Times New Roman" panose="02020603050405020304" pitchFamily="18" charset="0"/>
                          <a:cs typeface="Times New Roman" panose="02020603050405020304" pitchFamily="18" charset="0"/>
                        </a:rPr>
                        <a:t>( FP )</a:t>
                      </a:r>
                    </a:p>
                  </a:txBody>
                  <a:tcPr/>
                </a:tc>
                <a:extLst>
                  <a:ext uri="{0D108BD9-81ED-4DB2-BD59-A6C34878D82A}">
                    <a16:rowId xmlns:a16="http://schemas.microsoft.com/office/drawing/2014/main" val="1212471507"/>
                  </a:ext>
                </a:extLst>
              </a:tr>
              <a:tr h="1147061">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False Negative</a:t>
                      </a:r>
                    </a:p>
                    <a:p>
                      <a:pPr algn="ctr"/>
                      <a:r>
                        <a:rPr lang="en-IN" dirty="0">
                          <a:latin typeface="Times New Roman" panose="02020603050405020304" pitchFamily="18" charset="0"/>
                          <a:cs typeface="Times New Roman" panose="02020603050405020304" pitchFamily="18" charset="0"/>
                        </a:rPr>
                        <a:t>( FN )</a:t>
                      </a:r>
                    </a:p>
                  </a:txBody>
                  <a:tcPr/>
                </a:tc>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True Positive</a:t>
                      </a:r>
                    </a:p>
                    <a:p>
                      <a:pPr algn="ctr"/>
                      <a:r>
                        <a:rPr lang="en-IN" dirty="0">
                          <a:latin typeface="Times New Roman" panose="02020603050405020304" pitchFamily="18" charset="0"/>
                          <a:cs typeface="Times New Roman" panose="02020603050405020304" pitchFamily="18" charset="0"/>
                        </a:rPr>
                        <a:t>( TP )</a:t>
                      </a:r>
                    </a:p>
                  </a:txBody>
                  <a:tcPr/>
                </a:tc>
                <a:extLst>
                  <a:ext uri="{0D108BD9-81ED-4DB2-BD59-A6C34878D82A}">
                    <a16:rowId xmlns:a16="http://schemas.microsoft.com/office/drawing/2014/main" val="4247056400"/>
                  </a:ext>
                </a:extLst>
              </a:tr>
            </a:tbl>
          </a:graphicData>
        </a:graphic>
      </p:graphicFrame>
      <p:sp>
        <p:nvSpPr>
          <p:cNvPr id="5" name="TextBox 4">
            <a:extLst>
              <a:ext uri="{FF2B5EF4-FFF2-40B4-BE49-F238E27FC236}">
                <a16:creationId xmlns:a16="http://schemas.microsoft.com/office/drawing/2014/main" id="{51974B33-DB7D-984B-FF1B-BC7B89E9B922}"/>
              </a:ext>
            </a:extLst>
          </p:cNvPr>
          <p:cNvSpPr txBox="1"/>
          <p:nvPr/>
        </p:nvSpPr>
        <p:spPr>
          <a:xfrm>
            <a:off x="1365391" y="3582953"/>
            <a:ext cx="1583082"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Negative ( 0 )</a:t>
            </a:r>
          </a:p>
        </p:txBody>
      </p:sp>
      <p:sp>
        <p:nvSpPr>
          <p:cNvPr id="7" name="TextBox 6">
            <a:extLst>
              <a:ext uri="{FF2B5EF4-FFF2-40B4-BE49-F238E27FC236}">
                <a16:creationId xmlns:a16="http://schemas.microsoft.com/office/drawing/2014/main" id="{25736B66-2195-76FB-83AB-AD50D00D59B6}"/>
              </a:ext>
            </a:extLst>
          </p:cNvPr>
          <p:cNvSpPr txBox="1"/>
          <p:nvPr/>
        </p:nvSpPr>
        <p:spPr>
          <a:xfrm>
            <a:off x="1365391" y="4743058"/>
            <a:ext cx="1583082"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Positive ( 1 )</a:t>
            </a:r>
          </a:p>
        </p:txBody>
      </p:sp>
      <p:sp>
        <p:nvSpPr>
          <p:cNvPr id="9" name="TextBox 8">
            <a:extLst>
              <a:ext uri="{FF2B5EF4-FFF2-40B4-BE49-F238E27FC236}">
                <a16:creationId xmlns:a16="http://schemas.microsoft.com/office/drawing/2014/main" id="{C3FE566A-7A99-31BF-99FA-BCED04EC0D0C}"/>
              </a:ext>
            </a:extLst>
          </p:cNvPr>
          <p:cNvSpPr txBox="1"/>
          <p:nvPr/>
        </p:nvSpPr>
        <p:spPr>
          <a:xfrm>
            <a:off x="5878286" y="6158200"/>
            <a:ext cx="1632857" cy="400110"/>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Predicted</a:t>
            </a:r>
          </a:p>
        </p:txBody>
      </p:sp>
      <p:sp>
        <p:nvSpPr>
          <p:cNvPr id="10" name="TextBox 9">
            <a:extLst>
              <a:ext uri="{FF2B5EF4-FFF2-40B4-BE49-F238E27FC236}">
                <a16:creationId xmlns:a16="http://schemas.microsoft.com/office/drawing/2014/main" id="{75AFF8C8-4D7D-4F75-0E95-E39AEB7EF40E}"/>
              </a:ext>
            </a:extLst>
          </p:cNvPr>
          <p:cNvSpPr txBox="1"/>
          <p:nvPr/>
        </p:nvSpPr>
        <p:spPr>
          <a:xfrm>
            <a:off x="4071254" y="5641906"/>
            <a:ext cx="1632857"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Negative ( 0 )</a:t>
            </a:r>
          </a:p>
        </p:txBody>
      </p:sp>
      <p:sp>
        <p:nvSpPr>
          <p:cNvPr id="11" name="TextBox 10">
            <a:extLst>
              <a:ext uri="{FF2B5EF4-FFF2-40B4-BE49-F238E27FC236}">
                <a16:creationId xmlns:a16="http://schemas.microsoft.com/office/drawing/2014/main" id="{39FB3F19-3F3D-4235-4A12-48C2CA801976}"/>
              </a:ext>
            </a:extLst>
          </p:cNvPr>
          <p:cNvSpPr txBox="1"/>
          <p:nvPr/>
        </p:nvSpPr>
        <p:spPr>
          <a:xfrm>
            <a:off x="7601338" y="5641906"/>
            <a:ext cx="1632857"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Positive ( 1 )</a:t>
            </a:r>
          </a:p>
        </p:txBody>
      </p:sp>
    </p:spTree>
    <p:extLst>
      <p:ext uri="{BB962C8B-B14F-4D97-AF65-F5344CB8AC3E}">
        <p14:creationId xmlns:p14="http://schemas.microsoft.com/office/powerpoint/2010/main" val="20221642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C1A4-110C-A9A3-606A-53E4F579DDCE}"/>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E6E7274A-F1BA-C950-12F4-5FCD6FBE0A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D9A17F90-AD87-0513-7213-C7C9DBB925D7}"/>
              </a:ext>
            </a:extLst>
          </p:cNvPr>
          <p:cNvSpPr txBox="1"/>
          <p:nvPr/>
        </p:nvSpPr>
        <p:spPr>
          <a:xfrm>
            <a:off x="1227221" y="389334"/>
            <a:ext cx="8213558" cy="523220"/>
          </a:xfrm>
          <a:prstGeom prst="rect">
            <a:avLst/>
          </a:prstGeom>
          <a:noFill/>
        </p:spPr>
        <p:txBody>
          <a:bodyPr wrap="square" rtlCol="0">
            <a:spAutoFit/>
          </a:bodyPr>
          <a:lstStyle/>
          <a:p>
            <a:pPr algn="ctr"/>
            <a:r>
              <a:rPr lang="en-IN" sz="2800" b="1">
                <a:latin typeface="Times New Roman" panose="02020603050405020304" pitchFamily="18" charset="0"/>
                <a:cs typeface="Times New Roman" panose="02020603050405020304" pitchFamily="18" charset="0"/>
              </a:rPr>
              <a:t>Program </a:t>
            </a:r>
            <a:r>
              <a:rPr lang="en-IN" sz="2800" b="1" dirty="0">
                <a:latin typeface="Times New Roman" panose="02020603050405020304" pitchFamily="18" charset="0"/>
                <a:cs typeface="Times New Roman" panose="02020603050405020304" pitchFamily="18" charset="0"/>
              </a:rPr>
              <a:t>and Output</a:t>
            </a:r>
            <a:endParaRPr lang="en-IN"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434ADA7-E85C-7F4F-875B-973F224F41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914" y="981794"/>
            <a:ext cx="10446589" cy="5876206"/>
          </a:xfrm>
          <a:prstGeom prst="rect">
            <a:avLst/>
          </a:prstGeom>
        </p:spPr>
      </p:pic>
    </p:spTree>
    <p:extLst>
      <p:ext uri="{BB962C8B-B14F-4D97-AF65-F5344CB8AC3E}">
        <p14:creationId xmlns:p14="http://schemas.microsoft.com/office/powerpoint/2010/main" val="918574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62890-05A7-7A54-6294-E265280456B7}"/>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3B1026EA-FFF6-9818-C596-C7F90720E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E8F5A3D7-B1A0-9636-B5E1-19049913C2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658" y="1001202"/>
            <a:ext cx="10412083" cy="5856797"/>
          </a:xfrm>
          <a:prstGeom prst="rect">
            <a:avLst/>
          </a:prstGeom>
        </p:spPr>
      </p:pic>
    </p:spTree>
    <p:extLst>
      <p:ext uri="{BB962C8B-B14F-4D97-AF65-F5344CB8AC3E}">
        <p14:creationId xmlns:p14="http://schemas.microsoft.com/office/powerpoint/2010/main" val="9276434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13A7A-025E-3A50-C206-F578C328BAF7}"/>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688412AF-5DEA-40FC-0898-B573E43049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3A3B9B81-B547-22A6-7862-5B045EAC93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658" y="996350"/>
            <a:ext cx="10420709" cy="5861649"/>
          </a:xfrm>
          <a:prstGeom prst="rect">
            <a:avLst/>
          </a:prstGeom>
        </p:spPr>
      </p:pic>
    </p:spTree>
    <p:extLst>
      <p:ext uri="{BB962C8B-B14F-4D97-AF65-F5344CB8AC3E}">
        <p14:creationId xmlns:p14="http://schemas.microsoft.com/office/powerpoint/2010/main" val="13329017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26AAD-F26F-7367-D00F-5562A5D24704}"/>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11B837FE-3B8F-4C75-D123-4C49F8EB2D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D5BAADBF-86F0-1A6C-D726-DACF450519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272" y="991498"/>
            <a:ext cx="10429336" cy="5866502"/>
          </a:xfrm>
          <a:prstGeom prst="rect">
            <a:avLst/>
          </a:prstGeom>
        </p:spPr>
      </p:pic>
    </p:spTree>
    <p:extLst>
      <p:ext uri="{BB962C8B-B14F-4D97-AF65-F5344CB8AC3E}">
        <p14:creationId xmlns:p14="http://schemas.microsoft.com/office/powerpoint/2010/main" val="3399869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4CFBF-E0BA-6FC3-8FF8-14B6CB998FD1}"/>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B21C4F00-1C35-A71C-C4CE-6731509CB4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6E9240E1-A444-586C-86EF-A006FFC035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404" y="1001202"/>
            <a:ext cx="10412083" cy="5856797"/>
          </a:xfrm>
          <a:prstGeom prst="rect">
            <a:avLst/>
          </a:prstGeom>
        </p:spPr>
      </p:pic>
    </p:spTree>
    <p:extLst>
      <p:ext uri="{BB962C8B-B14F-4D97-AF65-F5344CB8AC3E}">
        <p14:creationId xmlns:p14="http://schemas.microsoft.com/office/powerpoint/2010/main" val="10518556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5EF8E-CC70-485F-F276-503EBE67B3B6}"/>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ADD55E7D-F7E5-7EFF-ECCA-87BC55D9D1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28E51649-1F7D-BBAD-DC8A-8ECBC15BB6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032" y="1020612"/>
            <a:ext cx="10377577" cy="5837387"/>
          </a:xfrm>
          <a:prstGeom prst="rect">
            <a:avLst/>
          </a:prstGeom>
        </p:spPr>
      </p:pic>
    </p:spTree>
    <p:extLst>
      <p:ext uri="{BB962C8B-B14F-4D97-AF65-F5344CB8AC3E}">
        <p14:creationId xmlns:p14="http://schemas.microsoft.com/office/powerpoint/2010/main" val="3441540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88311-AA99-FF43-F55E-D1056A26366F}"/>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A3C541D4-2A4C-654C-0162-1E413FC256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8FA2B2BF-98FA-D57B-B1B1-99E609E7DB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778" y="1010908"/>
            <a:ext cx="10394830" cy="5847092"/>
          </a:xfrm>
          <a:prstGeom prst="rect">
            <a:avLst/>
          </a:prstGeom>
        </p:spPr>
      </p:pic>
    </p:spTree>
    <p:extLst>
      <p:ext uri="{BB962C8B-B14F-4D97-AF65-F5344CB8AC3E}">
        <p14:creationId xmlns:p14="http://schemas.microsoft.com/office/powerpoint/2010/main" val="37402435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95550-C6A0-89A0-75BD-2C3C2844C1ED}"/>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9C3ACF6C-B454-39B1-0EB4-B3B0B1539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98D36B82-D0EA-07BA-D8EB-E0243E0F64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658" y="991498"/>
            <a:ext cx="10429336" cy="5866502"/>
          </a:xfrm>
          <a:prstGeom prst="rect">
            <a:avLst/>
          </a:prstGeom>
        </p:spPr>
      </p:pic>
    </p:spTree>
    <p:extLst>
      <p:ext uri="{BB962C8B-B14F-4D97-AF65-F5344CB8AC3E}">
        <p14:creationId xmlns:p14="http://schemas.microsoft.com/office/powerpoint/2010/main" val="41687735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61096-4EE5-83A5-DC72-E1E6269B36A7}"/>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54BBC64C-2FFC-4E18-63E2-DAF296F406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4EFC16CE-E30F-63DC-709C-4841C0B2B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899" y="991498"/>
            <a:ext cx="10429336" cy="5866502"/>
          </a:xfrm>
          <a:prstGeom prst="rect">
            <a:avLst/>
          </a:prstGeom>
        </p:spPr>
      </p:pic>
    </p:spTree>
    <p:extLst>
      <p:ext uri="{BB962C8B-B14F-4D97-AF65-F5344CB8AC3E}">
        <p14:creationId xmlns:p14="http://schemas.microsoft.com/office/powerpoint/2010/main" val="9002898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6D482-07AB-E7FF-9A28-698CF6DB60C8}"/>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9E414659-5835-D8B0-1200-FD4EC06932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E4242237-03AF-109B-B7F7-885708CA49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6" y="967236"/>
            <a:ext cx="10472468" cy="5890763"/>
          </a:xfrm>
          <a:prstGeom prst="rect">
            <a:avLst/>
          </a:prstGeom>
        </p:spPr>
      </p:pic>
    </p:spTree>
    <p:extLst>
      <p:ext uri="{BB962C8B-B14F-4D97-AF65-F5344CB8AC3E}">
        <p14:creationId xmlns:p14="http://schemas.microsoft.com/office/powerpoint/2010/main" val="7207945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1D647-18FD-8203-291E-DA408F00C63C}"/>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A2B0FFF2-8033-56FA-A08C-D882D74892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DB60DFB7-0891-E685-CA85-A8510A2CC4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898" y="938122"/>
            <a:ext cx="10524226" cy="5919877"/>
          </a:xfrm>
          <a:prstGeom prst="rect">
            <a:avLst/>
          </a:prstGeom>
        </p:spPr>
      </p:pic>
    </p:spTree>
    <p:extLst>
      <p:ext uri="{BB962C8B-B14F-4D97-AF65-F5344CB8AC3E}">
        <p14:creationId xmlns:p14="http://schemas.microsoft.com/office/powerpoint/2010/main" val="39870761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A8E56-348D-4CEC-9C81-4E4F8129F552}"/>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651A8B6A-7810-C70F-1F38-C75E6E9E5F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B068E2F5-FF04-75A5-03BB-47B7B8B2FE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912" y="986646"/>
            <a:ext cx="10437962" cy="5871354"/>
          </a:xfrm>
          <a:prstGeom prst="rect">
            <a:avLst/>
          </a:prstGeom>
        </p:spPr>
      </p:pic>
    </p:spTree>
    <p:extLst>
      <p:ext uri="{BB962C8B-B14F-4D97-AF65-F5344CB8AC3E}">
        <p14:creationId xmlns:p14="http://schemas.microsoft.com/office/powerpoint/2010/main" val="7758684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714FF-4210-172D-7CCA-F7D92C6E6A12}"/>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1FA32EAC-3C1B-0345-01F2-058F6DC97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432E74D4-78FA-FAFA-F996-F8F8F3CF25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5" y="991498"/>
            <a:ext cx="10429336" cy="5866502"/>
          </a:xfrm>
          <a:prstGeom prst="rect">
            <a:avLst/>
          </a:prstGeom>
        </p:spPr>
      </p:pic>
    </p:spTree>
    <p:extLst>
      <p:ext uri="{BB962C8B-B14F-4D97-AF65-F5344CB8AC3E}">
        <p14:creationId xmlns:p14="http://schemas.microsoft.com/office/powerpoint/2010/main" val="33613445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F2DFC-8D8D-3DBF-6C85-470D37176C29}"/>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7879D415-7814-AD92-72DD-5F7D0271E3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96F7E5CD-B894-B086-4385-06A44B0937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021" y="952680"/>
            <a:ext cx="10498347" cy="5905320"/>
          </a:xfrm>
          <a:prstGeom prst="rect">
            <a:avLst/>
          </a:prstGeom>
        </p:spPr>
      </p:pic>
    </p:spTree>
    <p:extLst>
      <p:ext uri="{BB962C8B-B14F-4D97-AF65-F5344CB8AC3E}">
        <p14:creationId xmlns:p14="http://schemas.microsoft.com/office/powerpoint/2010/main" val="21282005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0502D-3ED0-B12D-43F7-DAD86DCAD4CD}"/>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55973A4B-FF6A-AC78-C036-4777A67145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6C1428A0-DF24-EE5D-8896-965F9F4542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6" y="947826"/>
            <a:ext cx="10506974" cy="5910173"/>
          </a:xfrm>
          <a:prstGeom prst="rect">
            <a:avLst/>
          </a:prstGeom>
        </p:spPr>
      </p:pic>
    </p:spTree>
    <p:extLst>
      <p:ext uri="{BB962C8B-B14F-4D97-AF65-F5344CB8AC3E}">
        <p14:creationId xmlns:p14="http://schemas.microsoft.com/office/powerpoint/2010/main" val="29339611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CD97B-0B42-5414-6418-47D32DBABCD7}"/>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FD8F81E6-00CD-CF2D-8045-FF1110AD92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DBE93A9B-391D-FA17-5DB5-68B67C52CB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658" y="981794"/>
            <a:ext cx="10446589" cy="5876206"/>
          </a:xfrm>
          <a:prstGeom prst="rect">
            <a:avLst/>
          </a:prstGeom>
        </p:spPr>
      </p:pic>
    </p:spTree>
    <p:extLst>
      <p:ext uri="{BB962C8B-B14F-4D97-AF65-F5344CB8AC3E}">
        <p14:creationId xmlns:p14="http://schemas.microsoft.com/office/powerpoint/2010/main" val="18684172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384E4-06F3-0FD0-373E-1DBCE8559F02}"/>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D6D27C19-CCB9-7A60-6153-E8D1B20F2C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35A4BCCC-A3C6-C5CC-893A-A5C9FA90C7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274" y="957532"/>
            <a:ext cx="10489721" cy="5900468"/>
          </a:xfrm>
          <a:prstGeom prst="rect">
            <a:avLst/>
          </a:prstGeom>
        </p:spPr>
      </p:pic>
    </p:spTree>
    <p:extLst>
      <p:ext uri="{BB962C8B-B14F-4D97-AF65-F5344CB8AC3E}">
        <p14:creationId xmlns:p14="http://schemas.microsoft.com/office/powerpoint/2010/main" val="22755790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E059D-35CC-F009-4114-20AB90869B14}"/>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7549C3DD-9C42-6868-710F-891A990FDC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22444300-D741-8517-FA87-61061058B2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271" y="962384"/>
            <a:ext cx="10481094" cy="5895615"/>
          </a:xfrm>
          <a:prstGeom prst="rect">
            <a:avLst/>
          </a:prstGeom>
        </p:spPr>
      </p:pic>
    </p:spTree>
    <p:extLst>
      <p:ext uri="{BB962C8B-B14F-4D97-AF65-F5344CB8AC3E}">
        <p14:creationId xmlns:p14="http://schemas.microsoft.com/office/powerpoint/2010/main" val="38465978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FB28D-FAAD-56F4-4195-EBDBDB9BD824}"/>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73B97247-716E-06A8-0E5A-9914E342C1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9EA6F1C0-256C-2D88-C49F-58517E08FB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288" y="937727"/>
            <a:ext cx="10524928" cy="5920272"/>
          </a:xfrm>
          <a:prstGeom prst="rect">
            <a:avLst/>
          </a:prstGeom>
        </p:spPr>
      </p:pic>
    </p:spTree>
    <p:extLst>
      <p:ext uri="{BB962C8B-B14F-4D97-AF65-F5344CB8AC3E}">
        <p14:creationId xmlns:p14="http://schemas.microsoft.com/office/powerpoint/2010/main" val="4049151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25D39-B0E6-8354-63A1-AFEFEDB31360}"/>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FB97B86E-3571-E05C-9292-6B2A93539E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AD5A0C31-89FF-D319-459A-B70FDC108E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952" y="932480"/>
            <a:ext cx="10534258" cy="5925520"/>
          </a:xfrm>
          <a:prstGeom prst="rect">
            <a:avLst/>
          </a:prstGeom>
        </p:spPr>
      </p:pic>
    </p:spTree>
    <p:extLst>
      <p:ext uri="{BB962C8B-B14F-4D97-AF65-F5344CB8AC3E}">
        <p14:creationId xmlns:p14="http://schemas.microsoft.com/office/powerpoint/2010/main" val="10828787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FC744-3C21-1D63-42FC-BCD4E9009B5A}"/>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EBC4E937-CB1D-F0E3-E035-AA8BB5BCD5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A5B766FF-3123-4731-6189-E663C8C2AC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290" y="900986"/>
            <a:ext cx="10590245" cy="5957013"/>
          </a:xfrm>
          <a:prstGeom prst="rect">
            <a:avLst/>
          </a:prstGeom>
        </p:spPr>
      </p:pic>
    </p:spTree>
    <p:extLst>
      <p:ext uri="{BB962C8B-B14F-4D97-AF65-F5344CB8AC3E}">
        <p14:creationId xmlns:p14="http://schemas.microsoft.com/office/powerpoint/2010/main" val="37219491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6B08B-8476-C81C-E5B0-E0C6E8C107CF}"/>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47E9571F-82AD-409A-B20C-B1535455FA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B5174BA3-6756-9014-3BF5-FD5C3EA101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299" y="874744"/>
            <a:ext cx="10636898" cy="5983255"/>
          </a:xfrm>
          <a:prstGeom prst="rect">
            <a:avLst/>
          </a:prstGeom>
        </p:spPr>
      </p:pic>
    </p:spTree>
    <p:extLst>
      <p:ext uri="{BB962C8B-B14F-4D97-AF65-F5344CB8AC3E}">
        <p14:creationId xmlns:p14="http://schemas.microsoft.com/office/powerpoint/2010/main" val="22071395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07E04-10D4-BE33-AD44-1BDB8E189D3C}"/>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13B65362-9CC8-DD57-8336-1CFAF6C0B4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C6ACABFA-37CF-17C9-E58F-F891BE30F8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09" y="858998"/>
            <a:ext cx="10664890" cy="5999001"/>
          </a:xfrm>
          <a:prstGeom prst="rect">
            <a:avLst/>
          </a:prstGeom>
        </p:spPr>
      </p:pic>
    </p:spTree>
    <p:extLst>
      <p:ext uri="{BB962C8B-B14F-4D97-AF65-F5344CB8AC3E}">
        <p14:creationId xmlns:p14="http://schemas.microsoft.com/office/powerpoint/2010/main" val="13196256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D247-C924-9F49-0E55-648F34970358}"/>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178BC803-88CD-973A-0BE1-D61C1C022E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88AF0C91-5A0D-0EC2-597F-15358729B9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78" y="864248"/>
            <a:ext cx="10655559" cy="5993752"/>
          </a:xfrm>
          <a:prstGeom prst="rect">
            <a:avLst/>
          </a:prstGeom>
        </p:spPr>
      </p:pic>
    </p:spTree>
    <p:extLst>
      <p:ext uri="{BB962C8B-B14F-4D97-AF65-F5344CB8AC3E}">
        <p14:creationId xmlns:p14="http://schemas.microsoft.com/office/powerpoint/2010/main" val="25030730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FD9E7-66C8-4DE4-23D8-004E0367BF80}"/>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D7F37095-C3A2-3455-3572-9FD6F75703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49062384-2988-07C9-A33A-32AAAE4451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17" y="832756"/>
            <a:ext cx="10711543" cy="6025243"/>
          </a:xfrm>
          <a:prstGeom prst="rect">
            <a:avLst/>
          </a:prstGeom>
        </p:spPr>
      </p:pic>
    </p:spTree>
    <p:extLst>
      <p:ext uri="{BB962C8B-B14F-4D97-AF65-F5344CB8AC3E}">
        <p14:creationId xmlns:p14="http://schemas.microsoft.com/office/powerpoint/2010/main" val="39489380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C:\Users\Spiro\Downloads\Untitled Diagram.drawio.png"/>
          <p:cNvPicPr/>
          <p:nvPr/>
        </p:nvPicPr>
        <p:blipFill>
          <a:blip r:embed="rId3">
            <a:extLst>
              <a:ext uri="{28A0092B-C50C-407E-A947-70E740481C1C}">
                <a14:useLocalDpi xmlns:a14="http://schemas.microsoft.com/office/drawing/2010/main" val="0"/>
              </a:ext>
            </a:extLst>
          </a:blip>
          <a:srcRect/>
          <a:stretch>
            <a:fillRect/>
          </a:stretch>
        </p:blipFill>
        <p:spPr bwMode="auto">
          <a:xfrm>
            <a:off x="3532204" y="-1"/>
            <a:ext cx="4627058" cy="6791569"/>
          </a:xfrm>
          <a:prstGeom prst="rect">
            <a:avLst/>
          </a:prstGeom>
          <a:noFill/>
          <a:ln>
            <a:noFill/>
          </a:ln>
        </p:spPr>
      </p:pic>
    </p:spTree>
    <p:extLst>
      <p:ext uri="{BB962C8B-B14F-4D97-AF65-F5344CB8AC3E}">
        <p14:creationId xmlns:p14="http://schemas.microsoft.com/office/powerpoint/2010/main" val="2140896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A242C-D81E-9098-729C-6C8F687027BE}"/>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D723863D-83C4-066C-9C72-CA12BDEC9C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04EB85F8-E0B7-E73C-B979-2438D9D31C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73521" y="39756"/>
            <a:ext cx="3181350" cy="6742196"/>
          </a:xfrm>
          <a:prstGeom prst="rect">
            <a:avLst/>
          </a:prstGeom>
          <a:noFill/>
          <a:ln>
            <a:noFill/>
          </a:ln>
        </p:spPr>
      </p:pic>
    </p:spTree>
    <p:extLst>
      <p:ext uri="{BB962C8B-B14F-4D97-AF65-F5344CB8AC3E}">
        <p14:creationId xmlns:p14="http://schemas.microsoft.com/office/powerpoint/2010/main" val="25965287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71483-FEE1-8D47-41D2-64309B8B3730}"/>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1E941332-BDDA-5F55-C29B-7A65B1A68A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4C2D6010-CE03-8043-1B8A-41928E3A2F7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42792" y="64397"/>
            <a:ext cx="3582955" cy="6728290"/>
          </a:xfrm>
          <a:prstGeom prst="rect">
            <a:avLst/>
          </a:prstGeom>
          <a:noFill/>
          <a:ln>
            <a:noFill/>
          </a:ln>
        </p:spPr>
      </p:pic>
    </p:spTree>
    <p:extLst>
      <p:ext uri="{BB962C8B-B14F-4D97-AF65-F5344CB8AC3E}">
        <p14:creationId xmlns:p14="http://schemas.microsoft.com/office/powerpoint/2010/main" val="30656184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7E423-4FD3-1769-5DA6-CB5833A08BD1}"/>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BFE409AD-43EA-3C03-11CA-32E8F48DDF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54166003-8370-9119-1515-E4BE73A922F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07708" y="345233"/>
            <a:ext cx="9778481" cy="6111551"/>
          </a:xfrm>
          <a:prstGeom prst="rect">
            <a:avLst/>
          </a:prstGeom>
          <a:noFill/>
          <a:ln>
            <a:noFill/>
          </a:ln>
        </p:spPr>
      </p:pic>
    </p:spTree>
    <p:extLst>
      <p:ext uri="{BB962C8B-B14F-4D97-AF65-F5344CB8AC3E}">
        <p14:creationId xmlns:p14="http://schemas.microsoft.com/office/powerpoint/2010/main" val="31787615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227221" y="473311"/>
            <a:ext cx="8213558"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Conclusion</a:t>
            </a:r>
            <a:endParaRPr lang="en-IN" sz="28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122947" y="1371600"/>
            <a:ext cx="9793705" cy="3903954"/>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Ad Click Fraud Detection System developed in this project presents a reliable and intelligent solution to one of the major challenges faced by modern digital advertising platforms. </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By utilizing advanced feature engineering techniques and supervised machine learning algorithms, the system effectively learns complex click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patterns and accurately distinguishes between genuine user interactions and fraudulent clicks generated by bots or malicious sources.</a:t>
            </a:r>
          </a:p>
        </p:txBody>
      </p:sp>
    </p:spTree>
    <p:extLst>
      <p:ext uri="{BB962C8B-B14F-4D97-AF65-F5344CB8AC3E}">
        <p14:creationId xmlns:p14="http://schemas.microsoft.com/office/powerpoint/2010/main" val="2084943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63996-A1D6-9443-58AA-DDBB8F62FA79}"/>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888852AB-B7B8-8CFC-8142-9B0900C211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7010B18D-A463-12EC-6136-AC2C7477BA41}"/>
              </a:ext>
            </a:extLst>
          </p:cNvPr>
          <p:cNvSpPr txBox="1"/>
          <p:nvPr/>
        </p:nvSpPr>
        <p:spPr>
          <a:xfrm>
            <a:off x="1227221" y="473311"/>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sym typeface="Arial" panose="020B0604020202020204" pitchFamily="34" charset="0"/>
              </a:rPr>
              <a:t>Continued…</a:t>
            </a:r>
          </a:p>
        </p:txBody>
      </p:sp>
      <p:sp>
        <p:nvSpPr>
          <p:cNvPr id="3" name="TextBox 2">
            <a:extLst>
              <a:ext uri="{FF2B5EF4-FFF2-40B4-BE49-F238E27FC236}">
                <a16:creationId xmlns:a16="http://schemas.microsoft.com/office/drawing/2014/main" id="{6AD38495-28FB-FC06-89C7-159EE89EB097}"/>
              </a:ext>
            </a:extLst>
          </p:cNvPr>
          <p:cNvSpPr txBox="1"/>
          <p:nvPr/>
        </p:nvSpPr>
        <p:spPr>
          <a:xfrm>
            <a:off x="1122947" y="1371600"/>
            <a:ext cx="9793705" cy="1687963"/>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 conclusion, the Ad Click Fraud Detection System offers a scalable, adaptable, and practical solution for real-world deployment in online advertising environments. </a:t>
            </a:r>
          </a:p>
        </p:txBody>
      </p:sp>
    </p:spTree>
    <p:extLst>
      <p:ext uri="{BB962C8B-B14F-4D97-AF65-F5344CB8AC3E}">
        <p14:creationId xmlns:p14="http://schemas.microsoft.com/office/powerpoint/2010/main" val="41033076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122947" y="1379621"/>
            <a:ext cx="9793705" cy="4801314"/>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[1] Reem A. Alzahrani, Malak </a:t>
            </a:r>
            <a:r>
              <a:rPr lang="en-IN" dirty="0" err="1">
                <a:latin typeface="Times New Roman" panose="02020603050405020304" pitchFamily="18" charset="0"/>
                <a:cs typeface="Times New Roman" panose="02020603050405020304" pitchFamily="18" charset="0"/>
              </a:rPr>
              <a:t>Aljabri</a:t>
            </a:r>
            <a:r>
              <a:rPr lang="en-IN" dirty="0">
                <a:latin typeface="Times New Roman" panose="02020603050405020304" pitchFamily="18" charset="0"/>
                <a:cs typeface="Times New Roman" panose="02020603050405020304" pitchFamily="18" charset="0"/>
              </a:rPr>
              <a:t>, And Rami Mustaf A. </a:t>
            </a:r>
            <a:r>
              <a:rPr lang="en-IN" dirty="0" err="1">
                <a:latin typeface="Times New Roman" panose="02020603050405020304" pitchFamily="18" charset="0"/>
                <a:cs typeface="Times New Roman" panose="02020603050405020304" pitchFamily="18" charset="0"/>
              </a:rPr>
              <a:t>Mohammand</a:t>
            </a:r>
            <a:r>
              <a:rPr lang="en-IN" dirty="0">
                <a:latin typeface="Times New Roman" panose="02020603050405020304" pitchFamily="18" charset="0"/>
                <a:cs typeface="Times New Roman" panose="02020603050405020304" pitchFamily="18" charset="0"/>
              </a:rPr>
              <a:t>, 2025, "Ad Click Fraud Detection Using Machine Learning and Deep Learning Algorithms“, Imam Abdulrahman Bin Faisal University of Computer Science and Information Technology 2025.</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 R. Gupta and P. R. Patel, “Ensemble learning approach for ad click fraud detection in Indian digital markets,” International Journal of Intelligent Systems and Applications, vol. 15, no. 6, pp. 55–65, 2024.</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[3] S. Kumar, A. Verma, and R. Singh, “</a:t>
            </a:r>
            <a:r>
              <a:rPr lang="en-IN" dirty="0" err="1">
                <a:latin typeface="Times New Roman" panose="02020603050405020304" pitchFamily="18" charset="0"/>
                <a:cs typeface="Times New Roman" panose="02020603050405020304" pitchFamily="18" charset="0"/>
              </a:rPr>
              <a:t>Behavioral</a:t>
            </a:r>
            <a:r>
              <a:rPr lang="en-IN" dirty="0">
                <a:latin typeface="Times New Roman" panose="02020603050405020304" pitchFamily="18" charset="0"/>
                <a:cs typeface="Times New Roman" panose="02020603050405020304" pitchFamily="18" charset="0"/>
              </a:rPr>
              <a:t> feature extraction for ad click fraud detection using supervised learning,” IEEE International Conference on Signal Processing, Computation, and Control, pp. 211–218, 2024.</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[4] P. Mohanty and S. Rao, “Real-time click fraud detection using online learning algorithms,” Journal of Advanced Research in Dynamical &amp; Control Systems, vol. 14, no. 5, pp. 747–756, 2022.</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[5] A. Jain, K. D. Kumar, and M. Sharma, “Click fraud detection in digital advertising using feature non-linear patterns,” International Conference on Big Data Analytics and Intelligent Systems, pp. 329–336, 2023.</a:t>
            </a:r>
          </a:p>
        </p:txBody>
      </p:sp>
      <p:sp>
        <p:nvSpPr>
          <p:cNvPr id="2" name="TextBox 1">
            <a:extLst>
              <a:ext uri="{FF2B5EF4-FFF2-40B4-BE49-F238E27FC236}">
                <a16:creationId xmlns:a16="http://schemas.microsoft.com/office/drawing/2014/main" id="{13E3188B-59AF-388E-3A11-BBCBA2C4AA28}"/>
              </a:ext>
            </a:extLst>
          </p:cNvPr>
          <p:cNvSpPr txBox="1"/>
          <p:nvPr/>
        </p:nvSpPr>
        <p:spPr>
          <a:xfrm>
            <a:off x="1227221" y="473311"/>
            <a:ext cx="8213558"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References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31703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19B42-443F-5E7D-1D2B-C440A0EA1B94}"/>
            </a:ext>
          </a:extLst>
        </p:cNvPr>
        <p:cNvGrpSpPr/>
        <p:nvPr/>
      </p:nvGrpSpPr>
      <p:grpSpPr>
        <a:xfrm>
          <a:off x="0" y="0"/>
          <a:ext cx="0" cy="0"/>
          <a:chOff x="0" y="0"/>
          <a:chExt cx="0" cy="0"/>
        </a:xfrm>
      </p:grpSpPr>
      <p:pic>
        <p:nvPicPr>
          <p:cNvPr id="4" name="Picture 27">
            <a:extLst>
              <a:ext uri="{FF2B5EF4-FFF2-40B4-BE49-F238E27FC236}">
                <a16:creationId xmlns:a16="http://schemas.microsoft.com/office/drawing/2014/main" id="{F257A4C1-A62B-3C62-4621-5A57A4A5B8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463" y="160421"/>
            <a:ext cx="1171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6E6A8B05-D0CD-F17F-AF96-BD20A8514342}"/>
              </a:ext>
            </a:extLst>
          </p:cNvPr>
          <p:cNvSpPr txBox="1"/>
          <p:nvPr/>
        </p:nvSpPr>
        <p:spPr>
          <a:xfrm>
            <a:off x="1122947" y="1379621"/>
            <a:ext cx="9793705" cy="4524315"/>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[6] M. Singh and R. Bhatia, “Lightweight feature engineering for click fraud detection on resource-constrained systems,” ACM India Joint International Conference on Data Science &amp; Security, pp. 99–108, 2024.</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[7] T. Das and A. K. </a:t>
            </a:r>
            <a:r>
              <a:rPr lang="en-IN" dirty="0" err="1">
                <a:latin typeface="Times New Roman" panose="02020603050405020304" pitchFamily="18" charset="0"/>
                <a:cs typeface="Times New Roman" panose="02020603050405020304" pitchFamily="18" charset="0"/>
              </a:rPr>
              <a:t>Saha</a:t>
            </a:r>
            <a:r>
              <a:rPr lang="en-IN" dirty="0">
                <a:latin typeface="Times New Roman" panose="02020603050405020304" pitchFamily="18" charset="0"/>
                <a:cs typeface="Times New Roman" panose="02020603050405020304" pitchFamily="18" charset="0"/>
              </a:rPr>
              <a:t>, “Hybrid anomaly and supervised model framework for detecting coordinated ad fraud,” Journal of Information Security and Applications, vol. 65, pp. 1–15, 2024.</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[8] V. Sharma, A. </a:t>
            </a:r>
            <a:r>
              <a:rPr lang="en-IN" dirty="0" err="1">
                <a:latin typeface="Times New Roman" panose="02020603050405020304" pitchFamily="18" charset="0"/>
                <a:cs typeface="Times New Roman" panose="02020603050405020304" pitchFamily="18" charset="0"/>
              </a:rPr>
              <a:t>Choudhary</a:t>
            </a:r>
            <a:r>
              <a:rPr lang="en-IN" dirty="0">
                <a:latin typeface="Times New Roman" panose="02020603050405020304" pitchFamily="18" charset="0"/>
                <a:cs typeface="Times New Roman" panose="02020603050405020304" pitchFamily="18" charset="0"/>
              </a:rPr>
              <a:t>, and R. Agarwal, “Explainable machine learning for ad fraud detection using SHAP and ensemble models,” Indian Journal of Artificial Intelligence &amp; Machine Learning, vol. 2, no. 3, pp. 29–38, 2025.</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[9] R. Nair and S. Menon, “Deep learning based ad click fraud detection with temporal sequence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International Conference on Artificial Intelligence &amp; Data Science, pp. 451–458, 2025.</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[10] K. Reddy and S. K. Mishra, “Adaptive </a:t>
            </a:r>
            <a:r>
              <a:rPr lang="en-IN" dirty="0" err="1">
                <a:latin typeface="Times New Roman" panose="02020603050405020304" pitchFamily="18" charset="0"/>
                <a:cs typeface="Times New Roman" panose="02020603050405020304" pitchFamily="18" charset="0"/>
              </a:rPr>
              <a:t>thresholding</a:t>
            </a:r>
            <a:r>
              <a:rPr lang="en-IN" dirty="0">
                <a:latin typeface="Times New Roman" panose="02020603050405020304" pitchFamily="18" charset="0"/>
                <a:cs typeface="Times New Roman" panose="02020603050405020304" pitchFamily="18" charset="0"/>
              </a:rPr>
              <a:t> and time-based features for real-time ad click fraud detection,” IEEE Region 10 Symposium (TENSYMP), pp. 101–108, 2023.</a:t>
            </a:r>
          </a:p>
        </p:txBody>
      </p:sp>
      <p:sp>
        <p:nvSpPr>
          <p:cNvPr id="5" name="TextBox 4">
            <a:extLst>
              <a:ext uri="{FF2B5EF4-FFF2-40B4-BE49-F238E27FC236}">
                <a16:creationId xmlns:a16="http://schemas.microsoft.com/office/drawing/2014/main" id="{AFC2C298-C2E9-ED92-8C31-1AEF1CC1C929}"/>
              </a:ext>
            </a:extLst>
          </p:cNvPr>
          <p:cNvSpPr txBox="1"/>
          <p:nvPr/>
        </p:nvSpPr>
        <p:spPr>
          <a:xfrm>
            <a:off x="1227221" y="473311"/>
            <a:ext cx="8213558" cy="523220"/>
          </a:xfrm>
          <a:prstGeom prst="rect">
            <a:avLst/>
          </a:prstGeom>
          <a:noFill/>
        </p:spPr>
        <p:txBody>
          <a:bodyPr wrap="square" rtlCol="0">
            <a:spAutoFit/>
          </a:bodyPr>
          <a:lstStyle/>
          <a:p>
            <a:pPr algn="ctr"/>
            <a:r>
              <a:rPr lang="en-GB" sz="2800" b="1" dirty="0">
                <a:latin typeface="Times New Roman" panose="02020603050405020304" pitchFamily="18" charset="0"/>
                <a:cs typeface="Times New Roman" panose="02020603050405020304" pitchFamily="18" charset="0"/>
                <a:sym typeface="Arial" panose="020B0604020202020204" pitchFamily="34" charset="0"/>
              </a:rPr>
              <a:t>Continued…</a:t>
            </a:r>
          </a:p>
        </p:txBody>
      </p:sp>
    </p:spTree>
    <p:extLst>
      <p:ext uri="{BB962C8B-B14F-4D97-AF65-F5344CB8AC3E}">
        <p14:creationId xmlns:p14="http://schemas.microsoft.com/office/powerpoint/2010/main" val="4423899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60358" y="2719206"/>
            <a:ext cx="8213558" cy="1200329"/>
          </a:xfrm>
          <a:prstGeom prst="rect">
            <a:avLst/>
          </a:prstGeom>
          <a:noFill/>
        </p:spPr>
        <p:txBody>
          <a:bodyPr wrap="square" rtlCol="0">
            <a:spAutoFit/>
          </a:bodyPr>
          <a:lstStyle/>
          <a:p>
            <a:pPr algn="ctr"/>
            <a:r>
              <a:rPr lang="en-IN" sz="7200" b="1" dirty="0">
                <a:latin typeface="Times New Roman" panose="02020603050405020304" pitchFamily="18" charset="0"/>
                <a:cs typeface="Times New Roman" panose="02020603050405020304" pitchFamily="18" charset="0"/>
              </a:rPr>
              <a:t>Thank You</a:t>
            </a:r>
            <a:endParaRPr lang="en-IN"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7021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1188</TotalTime>
  <Words>1815</Words>
  <Application>Microsoft Office PowerPoint</Application>
  <PresentationFormat>Widescreen</PresentationFormat>
  <Paragraphs>211</Paragraphs>
  <Slides>63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Arial</vt:lpstr>
      <vt:lpstr>Calibri</vt:lpstr>
      <vt:lpstr>Calibri Light</vt:lpstr>
      <vt:lpstr>Times New Roman</vt:lpstr>
      <vt:lpstr>Wingdings</vt:lpstr>
      <vt:lpstr>Office Theme</vt:lpstr>
      <vt:lpstr>   GANADIPATHY TULSIS JAIN ENGINEERING COLLEGE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Krishnan</dc:creator>
  <cp:lastModifiedBy>Hari Krishnan</cp:lastModifiedBy>
  <cp:revision>138</cp:revision>
  <dcterms:created xsi:type="dcterms:W3CDTF">2026-01-30T08:58:23Z</dcterms:created>
  <dcterms:modified xsi:type="dcterms:W3CDTF">2026-04-12T09:34:24Z</dcterms:modified>
</cp:coreProperties>
</file>